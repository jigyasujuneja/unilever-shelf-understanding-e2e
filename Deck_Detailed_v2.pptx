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lus Jakarta Sans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9C6B0E-96A1-4929-8B2E-1B2C4CE8405E}">
  <a:tblStyle styleId="{6F9C6B0E-96A1-4929-8B2E-1B2C4CE840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det_v2_slide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det_v2_slide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2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det_v2_slide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det_v2_slide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3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det_v2_slid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det_v2_slid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4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det_v2_slid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det_v2_slid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5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det_v2_slide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det_v2_slide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6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det_v2_slide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det_v2_slide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7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det_v2_slide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det_v2_slide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8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det_v2_slide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det_v2_slide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9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det_v2_slid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det_v2_slid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10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det_v2_slid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det_v2_slid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11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det_v2_slide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det_v2_slide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12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det_v2_slide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det_v2_slide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DECK_DETAILED_V1 — SLIDE 1 / 12 SPEAKER NOTES &amp; CLICK SEQUENCE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Introduce baseline &amp; pre-committed hypothesis from analysis_v1.xlsx.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Highlight #FFAB00 Warning Amber forensic anomaly in the legacy 13-model / raw data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Reveal #0052CC Brand Blue Production Winner (Hybrid CLM + Gemini 3.5-Flash-Lite ★) &amp; #047857 Emerald Peak 3.8-Flash benchmark.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Cloud Run Portal: https://shelf-ui-jbn2qgbina-uc.a.run.app/cio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1: LEGACY ARCHITECTURE FORENSICS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the legacy 13-model chain fails: cascading errors across 11–13 sequential calls and 0 variant heads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Legacy Model Audit (gs://ul-fs-s-sandbx-16-prj-shelf-images/models/legacy_marketshare/ &amp; #010924 / #115811 Cloud Run proofs)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2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69" name="Google Shape;69;p13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422400"/>
                <a:gridCol w="431800"/>
                <a:gridCol w="1498600"/>
                <a:gridCol w="1346200"/>
                <a:gridCol w="2463800"/>
                <a:gridCol w="1524000"/>
              </a:tblGrid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Model Component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Count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Architecture / Weights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Measured Golden Performance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Forensic Root-Cause Failure Mode (⚠)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Unified Replacement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GT/MT Shelf Detector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YOLOv5 / YOLOv12s 1-Class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51.1% F2 (gtmerch #203935)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Separate detector vs bay model; misses densely packed top/bottom shelves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DistilledYoloOnnx 2-Class (69.5% F2)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Merchandising Bay Crop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XceptionNet Bay Classifier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72.4% Bay Compliance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Cannot jointly reason over Class 1 bay frames and Class 0 packs inside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BayPlanogramVerifier (99.4–100% Purity)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Master Brand Classifier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marketshare_brand.h5 (Xception)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Brand (#115811)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Static closed-set softmax; requires full retraining for every new brand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CLM + Flash-Lite (97.4%–97.5% Brand)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Pack Form Classifier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marketshare_packtype.h5 (Incep)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23.6% Raw / 47.8% Mapped</a:t>
                      </a:r>
                      <a:endParaRPr b="1" sz="73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46 overlapping pack labels (flexible_pouch vs sachet) collapse joint score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18-Archetype CLM + CLEF (93.3% Pack)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Category Classifiers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6x Per-Category InceptionNet .h5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84.4% Category (#115811)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6 separate category models; error at Stage 3 routes to wrong category head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Unified 5-Level Hierarchy (96.8% Cat)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6. Toker Promo Classifier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ViT-240 Static Promo Classifier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75.0% Static Promo Classes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Cannot read printed Rs. off / % free callouts or map to 2,659 SKUs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JevPromoVerifier (96.0% Exact SKU)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LEGACY CHAIN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11–13 Calls / Shelf (8.5s P50)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16.0% Raw / 43.0% 3-Attr</a:t>
                      </a:r>
                      <a:endParaRPr b="1" sz="73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P(Exact) = 0.888 × 0.478 × 0.844 = 43.0% (16.0% raw); 0.0% 5-Attr SKU</a:t>
                      </a:r>
                      <a:endParaRPr sz="73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1 Pipeline: 91.4% 3-Attr / 81.9% 5-Attr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2: DATA FORENSICS &amp; 12-GATE AUTOMATED QUALITY CONTROL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Auditing 5.14M raw GCS blobs down to 602,797 clean crops eliminated 399,412 cross-folder duplicates &amp; QA overlays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src/utils/hul_builder.py &amp; src/utils/qc.py (12/12 Automated QC Gates Verified Passing Across All 8 Golden Datasets)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3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28600" y="6096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228600" y="6096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3429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5,142,890 → 602,797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42900" y="8636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Blobs → Clean Unique MD5 Crops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25700" y="6096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2425700" y="6096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25400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399,412 Purged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2540000" y="8636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Cross-Folder Duplicate Crops Removed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622800" y="6096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22800" y="609600"/>
            <a:ext cx="57300" cy="5334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47371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mt/ Quarantined</a:t>
            </a:r>
            <a:endParaRPr b="1" sz="1300">
              <a:solidFill>
                <a:srgbClr val="9240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737100" y="8636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Burned-In Green cv2.rectangle Overlays Purged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6819900" y="6096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6819900" y="6096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9342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 / 12 QC Gates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934200" y="8636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Split Leak • 0 Gallery Leak • 0 Unknowns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95" name="Google Shape;95;p14"/>
          <p:cNvGraphicFramePr/>
          <p:nvPr/>
        </p:nvGraphicFramePr>
        <p:xfrm>
          <a:off x="2286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981200"/>
                <a:gridCol w="2260600"/>
                <a:gridCol w="2667000"/>
                <a:gridCol w="1778000"/>
              </a:tblGrid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Automated QC Gate (src/utils/qc.py)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Forensic Anomaly Detected in Raw Buckets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Deterministic Enforcement Rule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Measured Gate Result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Gates 1–2: Catalog Parity &amp; Zero Unknowns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Orphaned class IDs &amp; 'Unknown' brand/variant strings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2,659 identical classes across all 8 Golden manifests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PASS (2,659 SKUs, 0 Unknown)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Gates 3–4: Zero Split &amp; Gallery MD5 Leakage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399,412 crops duplicated across brand/variant/pack silos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SHA-1 session_id partitioning + exact MD5 byte de-leakage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PASS (0 Split / Gallery Overlap)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Gate 5: Burned-In Green Overlay Quarantine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 of gs://ms-json-dataset/mt/ had green cv2 boxes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HSV green perimeter detector quarantines 100% of mt/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PASS (0 Contaminated Eval Images)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Gate 6: Zero Candidate-Pool Oracle Leakage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Early gallery cap peeked at eval_samples product IDs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Label-blind full 2,659-SKU (A–Z) gallery index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PASS (0 Eval Label Peeking)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Gates 7–9: Box Geometry &amp; Per-Box Crop Audit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gtmerch had mono-SKU stamps; ms_json dropped 'Others'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Per-box chromatic/bay verifier + rival box retention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PASS (100% Valid Boxes Kept)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Gates 10–12: 50/50 Stratification &amp; Split Hashes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Unbalanced HUL/Rival splits &amp; un-pinned JSONL files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50.0% HUL / 50.0% Rival (1,000+1,000) + SHA-256 locks</a:t>
                      </a:r>
                      <a:endParaRPr sz="75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PASS (12 / 12 Gates Verified)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2: CANONICAL 5-LEVEL TAXONOMY &amp; PACK HARMONIZATION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Harmonizing 46 noisy pack labels into 18 physical archetypes and a 5-level tree unlocked +27.0 pts (H1 Confirmed)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src/utils/taxonomy/ &amp; src/utils/legacy_benchmark.py (Cloud Run #010924 Raw 46-Pack vs #115811 Harmonized 18-Pack on N=1,000)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4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05" name="Google Shape;105;p15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117600"/>
                <a:gridCol w="685800"/>
                <a:gridCol w="1346200"/>
                <a:gridCol w="609600"/>
                <a:gridCol w="609600"/>
              </a:tblGrid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Taxonomic Level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Cardinality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Business Question Answered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3.5-Lite ★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3.8-Flash 🏆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L1: Corporate Owner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(HUL/Rival)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What is Unilever vs Competitor SoS?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98.8%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99.2%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L2A: Category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 Categories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Which retail aisle / category?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96.2%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96.8%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L2B: Pack Archetype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 Forms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Pouch, Bottle, Jar, Carton, Tube, Bar?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93.3%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93.2%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L3: Master Brand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953 Brands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Which of 79 HUL or 874 Rival brands?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97.4%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97.5%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L4: Base Variant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2,104 Variants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Which sub-brand / variant family?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89.2%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91.5%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L5: Exact SKU + Size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2,659 SKUs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Exact SKU + net weight / promo pack?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81.9%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84.5%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Google Shape;106;p15"/>
          <p:cNvGraphicFramePr/>
          <p:nvPr/>
        </p:nvGraphicFramePr>
        <p:xfrm>
          <a:off x="4699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371600"/>
                <a:gridCol w="914400"/>
                <a:gridCol w="965200"/>
                <a:gridCol w="965200"/>
              </a:tblGrid>
              <a:tr h="4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Hypothesis H1 Verification Step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Raw 46-Pack (#010924)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Harmonized 18-Pack (#115811)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3.5-Lite ★ (#025000)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</a:tr>
              <a:tr h="4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Pack Taxonomy Cardinality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 Noisy Folder Strings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 Physical Pack Archetypes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 Canonical + 46 Cat×Pack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L2B Packaging Type Accuracy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23.6% (pouch/sachet split)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47.8% (+24.2 pts lift)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93.3% (+69.7 pts vs Raw)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4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L3 Master Brand Accuracy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(brand.h5)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(brand.h5)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97.4% (+8.6 pts lift)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L2A Category Accuracy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84.4% (6x InceptionNet)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84.4% (6x InceptionNet)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96.2% (+11.8 pts lift)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3-Attribute Exact (Cat×Brand×Pack)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16.0% Exact (73.7% Mean)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43.0% Exact (+27.0 pts)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Exact (95.6% Mean)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15"/>
          <p:cNvSpPr/>
          <p:nvPr/>
        </p:nvSpPr>
        <p:spPr>
          <a:xfrm>
            <a:off x="228600" y="3708400"/>
            <a:ext cx="8686800" cy="109230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19050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17500" y="3746500"/>
            <a:ext cx="85089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Hypothesis H1 Verdict — CONFIRMED (+27.0 pts 3-Attr Exact Lift on Unchanged Legacy .h5 Weights):</a:t>
            </a:r>
            <a:endParaRPr b="1" sz="750">
              <a:solidFill>
                <a:srgbClr val="9240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Pre-Commitment: Consolidating 46 overlapping pack folder strings (e.g., flexible_pouch vs sachet, bottle_hdpe vs bottle_pet) into 18 canonical physical pack forms will lift 3-Attr Exact by ≥+20.0 pts before changing a single neural weight.</a:t>
            </a:r>
            <a:endParaRPr sz="7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Query Proof: Evaluating unchanged legacy .h5 weights on N=1,000 hul_golden jumped from 16.0% (#010924 raw 46-pack) to 43.0% (#115811 harmonized 18-pack), proving that 27.0 pts of legacy error was pure taxonomy fragmentation.</a:t>
            </a:r>
            <a:endParaRPr sz="7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2: FULL 2,659-SKU (A–Z) GALLERY &amp; COMPETITOR RECOVERY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Removing the 360-SKU (A–H) cap and recovering 48.2% deleted 'Others' boxes enabled true Share-of-Shelf (H2 Confirmed)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src/approaches/market_share/retrieval/embedding_retrieval.py &amp; src/utils/manifests/ms_json_loader.py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5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18" name="Google Shape;118;p16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625600"/>
                <a:gridCol w="1930400"/>
                <a:gridCol w="2133600"/>
                <a:gridCol w="2997200"/>
              </a:tblGrid>
              <a:tr h="6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Catalog &amp; Shelf Coverage Dimension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Prior Truncated / Raw State (⚠)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Enriched Golden v2.2 State (✓)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Measured Impact on Golden Benchmarks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Master Gallery SKU Coverage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Capped at 360 SKUs (Alphabetical A–H)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All 2,659 SKUs (A–Z, 10,082 ref JPEGs)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Unlocks Indulekha, Kwality Wall's, Lakme, Lipton, Lux, Pears, Pepsodent, Ponds, Rin, Sunsilk, Surf Excel, Taj Mahal, Tresemme, Vaseline, Vim, Wheel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</a:tr>
              <a:tr h="6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Corporate Ownership Balance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HUL-heavy folder bias; missing M&amp;A brands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1,073 HUL SKUs (79 brands) + 1,586 Rival SKUs (874 brands)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79 Unilever brands (incl. Horlicks, Boost, Indulekha, Simple, Love Beauty &amp; Planet) + 874 competitor brands; 50/50 eval split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Competitor Shelf Boxes (ms_json_golden)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48.2% of shelf boxes ('Others____Others____NA') deleted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Retained all valid physical boxes (conf ≥ 0.50) + L1/L2/L3 scoring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Eliminates 48.2% false-positive detector penalty on real competitor shelf facings and restores true HUL vs Rival Share-of-Shelf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6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Campaign Bay Shelves (gtmerch_golden)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Outside-bay competitor packs assigned random HUL variant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Granularity-aware bay verifier (is_bay_inferred / is_others_catchall)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Scores inside-bay HUL facings at campaign brand/category level and outside-bay competitor facings at open-set L1/L2 level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Persistent Vector Cache (gallery_path_vec_cache)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10-min cold start re-embedding 10,082 JPEGs per container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77.7 MB pre-computed VertexEmbeddings.image() cache in GCS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Reduces 2,659-SKU (10,082-view) gallery setup latency in Cloud Run from ~10 minutes to 0.4 seconds with 100% real vectors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3: PRE-COMMITTED HYPOTHESIS TESTING LOOP (H1–H6)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Pre-committed hypothesis testing (H1–H6) proves +53.7 pts came from Data Forensics and +21.7 pts from Hybrid CLM+VLM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analysis_v1.xlsx Sheet 'Hypothesis_Testing_Loop' (All 6 Hypotheses Confirmed on N=1,000 Golden Splits)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6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28" name="Google Shape;128;p17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676400"/>
                <a:gridCol w="2616200"/>
                <a:gridCol w="2616200"/>
                <a:gridCol w="1778000"/>
              </a:tblGrid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Hypothesis ID &amp; Core Mechanism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Step A: Pre-Committed Theoretical Prediction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Step B: Executed Cloud Run Output (N=1,000)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Step C: Verdict &amp; Measured Delta</a:t>
                      </a:r>
                      <a:endParaRPr b="1" sz="76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H1: Pack Harmonization (46 → 18)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Consolidating 46 noisy pack labels → 18 physical forms lifts 3-Attr by ≥+20 pts on unchanged .h5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#010924 Raw: 16.0% 3-Attr (23.6% Pack) → #115811 Harmonized: 43.0% 3-Attr (47.8% Pack)</a:t>
                      </a:r>
                      <a:endParaRPr sz="73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CONFIRMED (+27.0 pts 3-Attr; +24.2 pts Pack)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H2: 2,659-SKU (A–Z) + 0-VLM CLM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Full A–Z gallery + CLM InfoNCE reaches ≥75% 5-Attr &amp; ≥88% 3-Attr at 0 VLM calls (≤₹0.06/shelf)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#013247 clm_standalone: 89.5% 3-Attr, 78.6% 5-Attr SKU, 98.6% L1 HUL at ₹0.05/shelf (0.43s)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CONFIRMED (+46.5 pts vs Legacy; -84% cost)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H3: Hybrid Gate + 3.5-Flash-Lite ★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68% CLM fast-path (@₹0) + 32% Flash-Lite Zoom-Strip reaches &gt;90% 3-Attr &amp; &gt;80% 5-Attr at ≤₹0.15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#025000-Lite clef_standalone: 91.4% 3-Attr (95.6% Mean), 81.9% 5-Attr SKU, 98.8% L1 at ₹0.12 (2.69s)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CONFIRMED (Production Winner; -62% cost)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H4: Hybrid vs. Standalone LoRA SFT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Standalone SFT plateaus &lt;75% on 2,659 SKUs; Hybrid Retrieval + Base Flash-Lite beats SFT at lower cost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#121756 SFT-3Attr: 69.7% / #013248 SFT-5Attr: 68.2% (₹0.22) vs #025000-Lite: 91.4% / 81.9% (₹0.12)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CONFIRMED (+21.7 pts 3-Attr &amp; +13.7 pts 5-Attr)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H5: Optical Tube Unwarp + 3.8-Flash 🏆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Cylindrical unwarp x = R·arcsin(u/R) + middle-30% zoom lifts 5-Attr SKU by ≥+2.0 pts to ≥84.0%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#025000 clef_standalone 3.8-Flash: 84.5% 5-Attr SKU (92.8% Tree, 92.2% 3-Attr, 99.2% L1 HUL)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CONFIRMED (+2.6 pts 5-Attr SKU over Lite)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H6: 13 → 1 Pipeline Consolidation</a:t>
                      </a:r>
                      <a:endParaRPr b="1"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 unified pipeline beats 51.1% Det F2, 72.4% Bay Compliance, and 75.0% Toker ViT-240 Promo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3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Det: 69.5% F2 (#032240) / 62.3% (#203937); Bay: 99.4–100% (#022245); Promo: 96.0% (#024020)</a:t>
                      </a:r>
                      <a:endParaRPr sz="73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3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CONFIRMED (13 → 1 models; -91% calls/shelf)</a:t>
                      </a:r>
                      <a:endParaRPr b="1" sz="73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4: SYSTEM-1 CONTRASTIVE-LM (CLM) INFONCE ARCHITECTURE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Zero-VLM CLM InfoNCE (1/τ=28.0) with inner-80% CIELAB photometry reaches 89.5% 3-Attr &amp; 78.6% SKU at ₹0.05/shelf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src/utils/clm.py &amp; src/approaches/market_share/retrieval/clm_standalone.py (Cloud Run #013247 on N=1,000 hul_golden)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7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28600" y="660400"/>
            <a:ext cx="43179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9" name="Google Shape;139;p18"/>
          <p:cNvGraphicFramePr/>
          <p:nvPr/>
        </p:nvGraphicFramePr>
        <p:xfrm>
          <a:off x="46482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320800"/>
                <a:gridCol w="1854200"/>
                <a:gridCol w="1092200"/>
              </a:tblGrid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System-1 CLM Component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Mathematical Formulation / Design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Ablation Contribution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Grey-World De-Glare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Clips L* &gt; 242 specular glare &amp; restores shelf illuminant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+1.4 pts Brand under store LEDs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Multi-View Max Cosine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max_{v ∈ 1..4} cos(q, r_{k,v}) across 4 gallery views/SKU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75.7% Baseline Top-1 (#013247)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L2 SKU Centroid Prior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0.78·max_cos + 0.22·cos(q, μ_k) stabilizes noisy angles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+1.6 pts Top-1 SKU stability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Inner-80% CIELAB Energy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+ 0.035·(s_LAB - 0.5) over top/mid/bot chromatic zones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+1.3 pts variant color separation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InfoNCE Posterior (1/τ=28)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P_CLM(y_1|x) = exp(28·E_1) / Σ_{j=1..5} exp(28·E_j)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78.6% 5-Attr / 89.5% 3-Attr @ ₹0.05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8"/>
          <p:cNvSpPr/>
          <p:nvPr/>
        </p:nvSpPr>
        <p:spPr>
          <a:xfrm>
            <a:off x="4648200" y="3403600"/>
            <a:ext cx="4267200" cy="13716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905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4737100" y="3441700"/>
            <a:ext cx="40893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4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System-1 CLM Standalone (#013247) Is a Breakthrough on Its Own:</a:t>
            </a:r>
            <a:endParaRPr b="1" sz="74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With ZERO Gemini VLM calls (0.43s P50, ₹0.05/shelf), CLM Standalone achieves 89.5% 3-Attr Exact (93.9% Mean), 78.6% 5-Attr SKU, and 98.6% L1 HUL ownership across 2,659 SKUs.</a:t>
            </a:r>
            <a:endParaRPr sz="74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Beats Standalone 3.5-Flash-Lite LoRA SFT (69.7% 3-Attr / 68.2% 5-Attr at ₹0.22/shelf) by +19.8 pts 3-Attr &amp; +10.4 pts 5-Attr at 77% lower cost!</a:t>
            </a:r>
            <a:endParaRPr sz="74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" y="1541130"/>
            <a:ext cx="4216401" cy="235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4: SYSTEM-2 HYBRID GATE, CLEF LOGPROBS &amp; OPTICAL PRIORS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Z-Score/LID gating + cylindrical tube unwarping lifts 5-Attr SKU to 81.9% (Flash-Lite ★) and 84.5% (3.8-Flash 🏆)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src/approaches/market_share/retrieval/clef_standalone.py &amp; l8_hul_ultimate.py (#025000-Lite &amp; #025000 on N=1,000)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8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52" name="Google Shape;152;p19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727200"/>
                <a:gridCol w="2717800"/>
                <a:gridCol w="2336800"/>
                <a:gridCol w="1905000"/>
              </a:tblGrid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System-2 Hybrid Mechanism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Engineering Implementation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Measured Impact on N=1,000 Golden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 / Latency Effect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Gate 1: Z-Score Margin + LID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Auto-accepts Stage-2A top-1 when z = (E_1-μ)/σ ≥ 1.65 &amp; LID ≤ 12.5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Resolves 68% of shelf crops with 96.4% precision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Cuts VLM calls by 68% (₹0 VLM cost)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Medoid Crop Deduplication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Clusters identical adjacent shelf facings (cos ≥ 0.955) before VLM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4.2x fewer crops sent to VLM on multi-facing shelves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Reduces per-shelf VLM tokens by 76%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CLEF Zoom-Strip Contact Sheet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 query crops/call × top-5 refs + bottom-30% net-weight zoom strip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Disambiguates 50g vs 100g vs 200g pack sizes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0.42 VLM calls/crop (2.69s P50 Lite)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Constrained Token Logprobs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Reads P_token(k|x) strictly after JSON 'choices' key (ECE = 0.018)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Eliminates text-generation verbosity &amp; JSON parse drift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81.9% SKU (Lite ★) / 84.5% (3.8-Flash 🏆)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Cylindrical Tube Unwarping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Unwarps curved bottles/tubes via x = R·arcsin(u/R) + mid-30% band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Recovers foreshortened edge text on Pond's/Lakme tubes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+2.6 pts 5-Attr SKU on hul_variants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6. Outlet &amp; Plank-Height Priors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Store-visit SKU cache boost (+0.035) + bbox height ratio size prior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Resolves blurred net-weight text from physical height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79.0% (#025001) at 0.93s P50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5: STANDALONE LORA SFT VS. HYBRID RETRIEVAL ABLATION (H4)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Hybrid Retrieval + Base Flash-Lite (91.4% at ₹0.12) beats Standalone LoRA SFT (69.7% at ₹0.22) on 2,659 SKUs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Vertex AI Tuned Endpoint projects/861928090809/locations/europe-west4/models/6660398128098213888 (#121756, #013248, #121755)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9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981200"/>
                <a:gridCol w="1625600"/>
                <a:gridCol w="1625600"/>
                <a:gridCol w="1625600"/>
                <a:gridCol w="1828800"/>
              </a:tblGrid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Evaluation Dimension (N=1,000 hul_golden)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Standalone 3.5-Lite SFT 3-Attr (#121756)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Standalone 3.5-Lite SFT 5-Attr (#013248)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+ 3.5-Lite SFT (#121755)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+ Base 3.5-Flash-Lite ★ (#025000-Lite)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3-Attribute Exact (Cat × Brand × Pack)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69.7% (87.2% Mean)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68.2% (86.8% Mean)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91.6% (95.4% Mean)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(95.6% Mean)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5-Attribute Exact SKU (2,659 SKUs A–Z)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(3-Attr Schema Only)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68.2% Exact SKU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N/A (3-Attr Head)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81.9% Exact SKU (91.4% Tree)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L1 HUL vs. Rival Ownership Accuracy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95.5%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94.9%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98.9%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98.8% (1.2% SoS Error)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L3 Brand / L2A Category / L2B Pack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91.8% / 93.1% / 74.7%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91.2% / 92.8% / 74.1%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97.0% / 96.6% / 92.6%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97.4% / 96.2% / 93.3%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VLM Calls per Crop &amp; All-In Cost / Shelf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1.00 call/crop  |  ₹0.22 / shelf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1.00 call/crop  |  ₹0.22 / shelf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0.32 call/crop  |  ₹0.14 / shelf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0.32–0.42 call/crop  |  ₹0.12 / shelf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New SKU Onboarding (Catalog Hot-Swap)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Requires re-tuning LoRA SFT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Requires re-tuning LoRA SFT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&lt; 1 min (CLM Gallery)</a:t>
                      </a:r>
                      <a:endParaRPr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&lt; 1 min (Drop 4 photos in GCS)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6: STAGE-1 SHELF DETECTION &amp; MULTI-PHOTO OVERLAP DEDUP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DistilledYoloOnnx (69.5% F2) + 2x2 high-res tiling &amp; affine RANSAC overlap dedup eliminate double-counting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src/approaches/market_share/detection/onnx_yolo_detector.py &amp; session_overlap_dedup_e2e.py (#032240, #203937, #vgn2d)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10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72" name="Google Shape;172;p21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752600"/>
                <a:gridCol w="1498600"/>
                <a:gridCol w="965200"/>
                <a:gridCol w="1168400"/>
                <a:gridCol w="863600"/>
                <a:gridCol w="2438400"/>
              </a:tblGrid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Detection / Dedup Approach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Dataset &amp; Split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F2 Score (β=2)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Precision / Recall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Latency (P50)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Architectural Innovation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DistilledYoloOnnx (#032240 ★)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sku110k (N=60 Dense Shelves)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69.5% F2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80.2% P / 67.2% R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1.82s CPU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Dual-class (Product + Bay) + shelf-row adaptive NMS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DistilledYoloOnnx (#vgn2d ★)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gt_hul_sessions (N=100 Strips)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100.0% F2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100.0% P / 100.0% R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0.19s CPU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 recall across all 800 test boxes (50 val + 100 test)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TiledDedup VLM (#203937 🏆)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gtmerch_golden (N=100 Shelves)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62.3% F2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58.4% P / 63.4% R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6.40s VLM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+11.2 pts F2 over Legacy YOLOv12s (51.1% F2 #203935)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DistilledYoloOnnx 2x2 Tiled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gtmerch_golden (N=100 Shelves)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50.6% F2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53.1% P / 50.0% R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1.49s CPU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2x2 overlapping sub-window tiling for small top-shelf packs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SessionOverlapDedupE2E (#155008)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hul_sessions (Store Visits)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67.0% E2E F2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90.5% Brand / 94.5% L1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8.49s Session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Affine RANSAC homography deduplicates overlapping store photos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 Legacy YOLOv12s 1-Class (#203935)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gtmerch_golden (Baseline)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50.4%–51.1% F2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48.2% P / 51.9% R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3.20s GPU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⚠ Single-pass 640px 1-class detector; misses Class 1 Bay frames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6: MERCHANDISING BAY PLANOGRAM &amp; TOKER PROMO VERIFICATION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Single-pass Bay Planogram (99.4%–100% purity) and JEV Promo Verifier (96.0% SKU) replace XceptionNet &amp; ViT-240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src/approaches/merchandising/planogram_compliance/bay_planogram_verifier.py &amp; promo_verification/ (#022245 &amp; #024020)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11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82" name="Google Shape;182;p22"/>
          <p:cNvGraphicFramePr/>
          <p:nvPr/>
        </p:nvGraphicFramePr>
        <p:xfrm>
          <a:off x="2286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803400"/>
                <a:gridCol w="1447800"/>
                <a:gridCol w="1524000"/>
                <a:gridCol w="1524000"/>
                <a:gridCol w="2387600"/>
              </a:tblGrid>
              <a:tr h="8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Merchandising / Promo Workload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Baseline Model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+ 3.5-Flash-Lite ★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+ 3.8-Flash 🏆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Business &amp; Operational Value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8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Brand Block Purity (W8 Planogram)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72.4% (XceptionNet + Incep)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99.4% Purity (#022245)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100.0% Purity (#022245)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Audits contiguous brand blocking &amp; detects rival intrusions inside HUL bays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8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Bay Share-of-Shelf (L1 HUL SoS)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78.0% Bay-Level SoS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94.5% L1 HUL (5.25s P50)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95.0% L1 HUL (89.0% 3-Attr)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Computes exact HUL vs Competitor facing share inside &amp; outside branded bays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8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Toker Promo Exact SKU (W9 Promo)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75.0% Static ViT-240 Classes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92.4% Exact SKU (#024020)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96.0% Exact SKU (#024020)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+21.0 pts over Toker ViT-240; verifies 'Rs 10 Off', '20% Extra', 'Free Bowl'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82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Toker Promo L1 / Brand Accuracy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82.0% Brand (ViT-240)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98.8% L1 / 96.8% Brand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99.2% L1 / 98.4% Brand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Zero retraining needed when Unilever launches seasonal promotional packs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7: 100K-STORE PRODUCTION TCO, PHASE 4 QA &amp; CUTOVER PLAN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Serverless Cloud Run deployment saves ₹6.00L/month at 100K stores with 100% reconciliation alignment (0.0000 var)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GCP Cloud Billing Catalog API + Phase 1 Reconciliation Workbook (analysis_v1.xlsx, 144 Cloud Run runs verified)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12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2286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228600" y="609600"/>
            <a:ext cx="57300" cy="5589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3429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₹3.60L / Month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3429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100K Stores (30L Shelves) on 3.5-Flash-Lite ★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24257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2425700" y="609600"/>
            <a:ext cx="57300" cy="5589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25400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₹6.00L / mo Saved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25400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-62% TCO Reduction vs ₹9.60L Legacy 13-Model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46228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622800" y="609600"/>
            <a:ext cx="57300" cy="5589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7371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 1 Min SKU Swap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7371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Drop 4 Reference Photos in GCS (0 Retraining)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8199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6819900" y="609600"/>
            <a:ext cx="57300" cy="5589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69342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0.0000 Variance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69342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Reconciled in analysis_v1.xlsx (25 KPIs)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08" name="Google Shape;208;p23"/>
          <p:cNvGraphicFramePr/>
          <p:nvPr/>
        </p:nvGraphicFramePr>
        <p:xfrm>
          <a:off x="228600" y="124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879600"/>
                <a:gridCol w="787400"/>
                <a:gridCol w="1371600"/>
                <a:gridCol w="1193800"/>
                <a:gridCol w="787400"/>
                <a:gridCol w="2667000"/>
              </a:tblGrid>
              <a:tr h="71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Deployment Tier (30 Lakh Shelves / Month)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 / Shelf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Monthly TCO (100K Stores)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3-Attr / 5-Attr SKU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Latency P50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8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Cutover Recommendation &amp; Phase 4 QA Status</a:t>
                      </a:r>
                      <a:endParaRPr b="1" sz="78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 Legacy 13-Model Chain (GPU + CPU)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₹0.320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₹9.60 Lakhs / mo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16% Raw (43%) / 0%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8.50s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Decommission in Phase 3 (Weeks 5–6)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Tier A: Zero-VLM CLM InfoNCE (#013247)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₹0.050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₹1.50 Lakhs / mo (-84%)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89.5% / 78.6% SKU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0.43s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High-frequency GT daily store checks (0 VLM calls)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Tier B: Hybrid + 3.5-Flash-Lite ★ (#025000)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₹0.120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₹3.60 Lakhs / mo (-62%)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/ 81.9% SKU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2.69s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Primary Production Default (Saves ₹6.00L/mo)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Tier C: Hybrid + 3.8-Flash Peak 🏆 (#025000)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₹0.210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₹6.30 Lakhs / mo (-34%)</a:t>
                      </a:r>
                      <a:endParaRPr b="1"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92.2% / 84.5% SKU</a:t>
                      </a:r>
                      <a:endParaRPr b="1" sz="75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7.09s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MT Hypermarkets, Curved Tubes &amp; Promo Audits</a:t>
                      </a:r>
                      <a:endParaRPr sz="75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0" y="0"/>
            <a:ext cx="9144000" cy="558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228600" y="25400"/>
            <a:ext cx="86868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1: EXECUTIVE THESIS &amp; ANOMALY ROOT-CAUSE</a:t>
            </a:r>
            <a:endParaRPr b="1" sz="7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228600" y="165100"/>
            <a:ext cx="8686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Consolidating 13 legacy models into 1 Hybrid 3.5-Flash-Lite pipeline lifts 3-Attr to 91.4% at 62% lower cost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228600" y="4902200"/>
            <a:ext cx="6858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3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Phase 1 Deterministic Reconciliation Workbook (analysis_v1.xlsx, MAX_VARIANCE = 0.0000 across 144 Cloud Run runs)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7112000" y="4902200"/>
            <a:ext cx="1803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Deck_Detailed_v1  |  1 / 12</a:t>
            </a:r>
            <a:endParaRPr sz="73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2286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228600" y="609600"/>
            <a:ext cx="57300" cy="5589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3429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91.4% / 81.9%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3429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3-Attr Exact / 5-Attr SKU (vs 16% / 0% Legacy)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24257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2425700" y="609600"/>
            <a:ext cx="57300" cy="5589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25400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₹0.12 / Shelf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25400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-62% Cost Reduction (vs ₹0.32 Legacy 13-Model)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6228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22800" y="609600"/>
            <a:ext cx="57300" cy="5589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47371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2.69s Latency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7371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3.2x Faster P50 (vs 8.5s Sequential Legacy)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6819900" y="609600"/>
            <a:ext cx="2095500" cy="558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6819900" y="609600"/>
            <a:ext cx="57300" cy="5589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6934200" y="6350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→ 1 Models</a:t>
            </a:r>
            <a:endParaRPr b="1" sz="13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6934200" y="863600"/>
            <a:ext cx="194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-91% Model Calls/Shelf (1.42 vs 11-13 Legacy)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34" name="Google Shape;234;p24"/>
          <p:cNvGraphicFramePr/>
          <p:nvPr/>
        </p:nvGraphicFramePr>
        <p:xfrm>
          <a:off x="228600" y="124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{6F9C6B0E-96A1-4929-8B2E-1B2C4CE8405E}</a:tableStyleId>
              </a:tblPr>
              <a:tblGrid>
                <a:gridCol w="1955800"/>
                <a:gridCol w="1219200"/>
                <a:gridCol w="1219200"/>
                <a:gridCol w="1295400"/>
                <a:gridCol w="1574800"/>
                <a:gridCol w="1422400"/>
              </a:tblGrid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9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Evaluation Metric / Business KPI</a:t>
                      </a:r>
                      <a:endParaRPr b="1" sz="79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9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Raw 46-Pack (#010924)</a:t>
                      </a:r>
                      <a:endParaRPr b="1" sz="79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9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Harmonized (#115811)</a:t>
                      </a:r>
                      <a:endParaRPr b="1" sz="79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9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Standalone 3.5-Lite SFT (#121756)</a:t>
                      </a:r>
                      <a:endParaRPr b="1" sz="79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9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CLM + 3.5-Flash-Lite ★ (#025000-Lite)</a:t>
                      </a:r>
                      <a:endParaRPr b="1" sz="79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9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Peak CLM + 3.8-Flash 🏆 (#025000)</a:t>
                      </a:r>
                      <a:endParaRPr b="1" sz="79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3-Attribute Exact (Cat × Brand × Pack)</a:t>
                      </a:r>
                      <a:endParaRPr b="1"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16.0% (73.7% Mean)</a:t>
                      </a:r>
                      <a:endParaRPr sz="76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43.0% (+27.0 pts)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69.7% (87.2% Mean)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(95.6% Mean)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92.2% (96.0% Mean)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5-Attribute Exact SKU (2,659 SKUs A–Z)</a:t>
                      </a:r>
                      <a:endParaRPr b="1"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(No Variant Head)</a:t>
                      </a:r>
                      <a:endParaRPr sz="76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(No Variant Head)</a:t>
                      </a:r>
                      <a:endParaRPr sz="76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68.2% (#013248)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81.9% (91.4% Tree)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84.5% (92.8% Tree)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L1 Unilever vs. Rival Ownership (SoS)</a:t>
                      </a:r>
                      <a:endParaRPr b="1"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(No L1 Head)</a:t>
                      </a:r>
                      <a:endParaRPr sz="76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(Brand Proxy)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95.5% L1 HUL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98.8% (1.2% SoS Err)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99.2% (0.8% SoS Err)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L3 Brand / L2B Pack Form Accuracy</a:t>
                      </a:r>
                      <a:endParaRPr b="1"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/ 23.6% (46-Pack)</a:t>
                      </a:r>
                      <a:endParaRPr sz="76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/ 47.8% (18-Pack)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91.8% / 74.7%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97.4% / 93.3%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97.5% / 93.2%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Stage-1 Detection F2 / Bay Purity / Promo</a:t>
                      </a:r>
                      <a:endParaRPr b="1"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51.1% F2 / 72.4% / 75.0%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51.1% F2 / 72.4% / 75.0%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N/A (Crop Classifier)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69.5% F2 / 99.4% / 96.0%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69.5% F2 / 100% / 96.0%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Latency (P50) &amp; All-In Cost / Shelf</a:t>
                      </a:r>
                      <a:endParaRPr b="1"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8.50s  |  ₹0.32 / shelf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8.50s  |  ₹0.32 / shelf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1.31s  |  ₹0.22 / shelf</a:t>
                      </a:r>
                      <a:endParaRPr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2.69s  |  ₹0.12 / shelf (-62%)</a:t>
                      </a:r>
                      <a:endParaRPr b="1" sz="76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6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7.09s  |  ₹0.21 / shelf (-34%)</a:t>
                      </a:r>
                      <a:endParaRPr b="1" sz="76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