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Plus Jakarta Sans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13902A-E865-440C-8D0D-B82527EEFA12}">
  <a:tblStyle styleId="{D513902A-E865-440C-8D0D-B82527EEFA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5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bold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sum_v2_slide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sum_v2_slide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2 — DATA FORENSICS, 46→18 PACK HARMONIZATION &amp; STEP-CHANGE GAINS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Data Forensics &amp; H1 Verdict: Auditing 5.14M raw GCS blobs down to 602,797 unique crops purged 399,412 cross-folder MD5 duplicates and green QA overlays. Consolidating 46 noisy pack labels into 18 canonical physical pack forms (H1 Confirmed) lifted 3-Attr Exact accuracy from 16.0% (#010924) to 43.0% (#115811, +27.0 pts) on unchanged legacy weights.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Clean SFT &amp; Full 2,659-SKU CLM (H2 Confirmed): Training Vertex AI LoRA SFT on clean Golden data reached 69.7% 3-Attr (#121756, +26.7 pts). Removing the 360-SKU (A–H) cap to index all 2,659 SKUs (A–Z) with Zero-VLM CLM InfoNCE (#013247) jumped to 89.5% 3-Attr and 78.6% 5-Attr SKU at ₹0.05/shelf.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Hybrid Production Winner: Adding the 32% Gemini 3.5-Flash-Lite Zoom-Strip tie-breaker (#025000-Lite) reaches 91.4% 3-Attr and 81.9% 5-Attr SKU at ₹0.12/shelf (+75.4 pts total lift over raw legacy).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um_v2_slide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um_v2_slide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3 — 2-STAGE SYSTEM-1 / SYSTEM-2 FUNNEL &amp; 5-LEVEL TAXONOMY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Stage 1 Detection &amp; Dedup: DistilledYoloOnnx (69.5% F2 on SKU110K #032240; 62.3% F2 on GTMerch #203937) detects both Class 0 Product boxes and Class 1 Branded Bay frames in a single forward pass.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Stage 2A/2B 2-Gate Routing (H3 &amp; H5 Confirmed): Gate 1 (Z-Score z ≥ 1.65 &amp; LID ≤ 12.5) auto-accepts 68% of shelf crops via CLM InfoNCE at ₹0 VLM cost in 0.43s. Gate 2 routes only the 32% hard sister-SKU ties to Gemini 3.5-Flash-Lite Zoom-Strip Contact Sheets (0.42 VLM calls/crop).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5-Level Taxonomic Rollup: Delivers 98.8%–99.2% L1 HUL vs. Rival ownership, 96.2%–96.8% L2A Category, 93.3% L2B Pack, 97.4%–97.5% L3 Brand, and 81.9%–84.5% L5 Exact SKU.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um_v2_slid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um_v2_slid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4 — ALL 4 RETAIL PILLARS &amp; WHY HYBRID BEATS SFT-ALONE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H4 Confirmed (Hybrid vs. SFT-Alone): Standalone 3.5-Flash-Lite LoRA SFT (#121756 / #013248) plateaus at 69.7% 3-Attr and 68.2% 5-Attr SKU at ₹0.22/shelf because static weights struggle on 2,659 look-alike SKUs. Hybrid Retrieval + Base 3.5-Flash-Lite (#025000-Lite) achieves 91.4% 3-Attr (+21.7 pts) and 81.9% 5-Attr (+13.7 pts) at ₹0.12/shelf with zero retraining required for new SKUs.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Stage-1 Detection &amp; Bay Planogram (H6 Confirmed): Beats legacy 1-class YOLO by +11.2 to +18.4 pts F2 and achieves 99.4% (Lite) to 100.0% (3.8-Flash) Brand Block Purity (#022245 vs 72.4% legacy).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Toker Promo Verification &amp; Granularity Disclosure: JevPromoVerifier (#024020) reaches 96.0% Exact Promo SKU and 99.2% L1 ownership (+21.0 pts vs 75.0% legacy ViT-240).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sum_v2_slide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sum_v2_slide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5 — 100K-STORE PRODUCTION TCO, RECONCILIATION AUDIT &amp; ROLLOUT ROADMAP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100K-Store TCO Economics: At 30 lakh (3M) shelf photos/month, replacing the ₹9.60L/mo legacy 13-model chain with Hybrid 3.5-Flash-Lite (₹3.60L/mo) saves ₹6.00 Lakhs/month (-62% TCO).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Zero-Retraining Agility: Onboarding a new Unilever or competitor pack launch takes &lt;1 minute (uploading 4 reference photos to GCS) vs. 2–3 weeks of retraining 8 legacy .h5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Phase 4 QA &amp; 3-Phase Cutover: 100% reconciled against analysis_v1.xlsx (0.0000 variance across 144 Cloud Run runs), ready for 6-week Phased Cutover.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sum_v2_slide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sum_v2_slide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SLIDE 1 — EXECUTIVE SCORECARD &amp; ROOT-CAUSE ANOMALY DIAGNOSIS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1] Baseline Context: Unilever's legacy 13-model chain (YOLO 1-class + XceptionNet + 6x InceptionNet .h5 + Toker ViT-240) achieves only 16.0% raw 3-Attribute Exact accuracy (#010924) and 0.0% 5-Attribute Exact SKU accuracy at ₹0.32/shelf and 8.5s P50 latency.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2] Root-Cause Anomaly (#FFAB00 Warning): We diagnosed three compounding failures: (1) 46 overlapping pack labels caused 23.6% pack accuracy; (2) an alphabetical 360-SKU (A–H) cap blinded legacy retrieval to 2,299 SKUs (I–Z); (3) 11–13 sequential model calls per shelf had zero L4/L5 variant/SKU heads.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[Click 3] Production Winner (#0052CC Brand Blue): Consolidating all 13 models into 1 unified Hybrid CLM + Gemini 3.5-Flash-Lite pipeline (#025000-Lite) delivers 91.4% 3-Attr Exact (95.6% Mean) and 81.9% 5-Attr Exact SKU (98.8% L1 HUL ownership) at ₹0.12/shelf (-62% cost) in 2.69s (3.2x faster). Peak 3.8-Flash (#025000) reaches 92.2% 3-Attr / 84.5% 5-Attr SKU.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28600" y="63500"/>
            <a:ext cx="868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forensics, 46→18 pack harmonization &amp; a 2,659-SKU (A–Z) catalog drove +53.7 pts of the +75.4% lift</a:t>
            </a:r>
            <a:endParaRPr b="1" sz="14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8600" y="4902200"/>
            <a:ext cx="711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Hypotheses H1 &amp; H2 Confirmed (12/12 Automated QC Gates Passing; 0 Split Leakage; 0 Candidate-Pool Oracle Leakage)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7366000" y="4902200"/>
            <a:ext cx="15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Deck_Summary_v1  |  2 / 5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2286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2286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3429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5.14M → 602,797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3429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Unique Audited Crops (399,412 dupes purged)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24257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2425700" y="5842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5400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46 → 18 Pack Forms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5400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H1 Confirmed: +27.0 pts Lift on unchanged .h5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46228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46228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7371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360 → 2,659 SKUs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7371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H2 Confirmed: Full A–Z + 48.2% Rival Boxes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68199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6819900" y="584200"/>
            <a:ext cx="57300" cy="5334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69342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+53.7 / +75.4 pts</a:t>
            </a:r>
            <a:endParaRPr b="1" sz="1300">
              <a:solidFill>
                <a:srgbClr val="9240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69342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71% of Total 3-Attr Gain from Data Forensics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84" name="Google Shape;84;p13"/>
          <p:cNvGraphicFramePr/>
          <p:nvPr/>
        </p:nvGraphicFramePr>
        <p:xfrm>
          <a:off x="228600" y="116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{D513902A-E865-440C-8D0D-B82527EEFA12}</a:tableStyleId>
              </a:tblPr>
              <a:tblGrid>
                <a:gridCol w="1092200"/>
                <a:gridCol w="1092200"/>
                <a:gridCol w="1092200"/>
                <a:gridCol w="1016000"/>
              </a:tblGrid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Forensics Pillar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Anomaly (⚠)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Golden v2.2 Fix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Verified Impact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Pack Forms (H1)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46 noisy labels (23.6%)</a:t>
                      </a:r>
                      <a:endParaRPr sz="72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 physical pack forms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+27.0 pts (#115811)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12-Gate Dedup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399K cross-folder dupes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MD5 + Session join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+26.7 pts SFT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Full Catalog (H2)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360 SKUs (A–H only)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2,659 SKUs (A–Z)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97.4% Brand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Rival Recovery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48.2% 'Others' deleted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Retained + 1,586 SKUs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98.8% L1 HUL SoS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 5-Level Tree &amp; N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0% SKU / 25–31 shelves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5-Level / 100–200 shlv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84.5% SKU (±1.4%)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Google Shape;85;p13"/>
          <p:cNvGraphicFramePr/>
          <p:nvPr/>
        </p:nvGraphicFramePr>
        <p:xfrm>
          <a:off x="4622800" y="116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{D513902A-E865-440C-8D0D-B82527EEFA12}</a:tableStyleId>
              </a:tblPr>
              <a:tblGrid>
                <a:gridCol w="1854200"/>
                <a:gridCol w="889000"/>
                <a:gridCol w="762000"/>
                <a:gridCol w="787400"/>
              </a:tblGrid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Cumulative Milestone (N=1,000)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3-Attr Exact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5-Attr SKU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Cost/Shelf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4785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M0→M1. Raw 16% → 18-Pack (#115811)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16% → 43.0%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</a:t>
                      </a:r>
                      <a:endParaRPr b="1" sz="72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₹0.32 (13m)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M2. + Clean 3.5-Lite SFT (#121756)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69.7% (+26.7%)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68.2%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₹0.22 (1.3s)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M3. + 2,659-SKU 0-VLM CLM (#013247)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89.5% (+19.8%)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78.6%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 ₹0.05 (0.4s)</a:t>
                      </a:r>
                      <a:endParaRPr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M4. + Hybrid 3.5-Flash-Lite ★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(95.6%)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81.9%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₹0.12 (2.7s)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M5. + Tube Unwarp 3.8-Flash 🏆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92.2% (96.0%)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84.5%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₹0.21 (Peak)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13"/>
          <p:cNvSpPr/>
          <p:nvPr/>
        </p:nvSpPr>
        <p:spPr>
          <a:xfrm>
            <a:off x="228600" y="4089400"/>
            <a:ext cx="8686800" cy="73650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19050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17500" y="4114800"/>
            <a:ext cx="85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40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Data-Centric FDE Takeaway — Where the +75.4% Total Lift Came From (16.0% → 91.4%):</a:t>
            </a:r>
            <a:endParaRPr b="1" sz="740">
              <a:solidFill>
                <a:srgbClr val="9240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+53.7 pts (16.0% → 69.7%) came from Data Forensics alone: 46→18 pack harmonization (+27.0 pts) + purging 399,412 cross-folder dupes &amp; SFT (+26.7 pts).</a:t>
            </a:r>
            <a:endParaRPr sz="74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+21.7 pts (69.7% → 91.4%) &amp; 81.9%–84.5% 5-Attr Exact SKU at 62% lower cost (₹0.12 vs ₹0.32) came from full 2,659-SKU CLM + Flash-Lite.</a:t>
            </a:r>
            <a:endParaRPr sz="74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28600" y="63500"/>
            <a:ext cx="868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2-stage System-1 / System-2 funnel resolves 68% of shelf crops at ₹0 VLM cost and routes 32% to Flash-Lite</a:t>
            </a:r>
            <a:endParaRPr b="1" sz="14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8600" y="4902200"/>
            <a:ext cx="711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Hypotheses H2, H3 &amp; H5 Confirmed (clm_standalone #013247 + clef_standalone #025000-Lite &amp; #025000 on N=1,000 Golden)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66000" y="4902200"/>
            <a:ext cx="15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Deck_Summary_v1  |  3 / 5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228600" y="609600"/>
            <a:ext cx="4508400" cy="419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" name="Google Shape;97;p14"/>
          <p:cNvGraphicFramePr/>
          <p:nvPr/>
        </p:nvGraphicFramePr>
        <p:xfrm>
          <a:off x="4838700" y="60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{D513902A-E865-440C-8D0D-B82527EEFA12}</a:tableStyleId>
              </a:tblPr>
              <a:tblGrid>
                <a:gridCol w="1435100"/>
                <a:gridCol w="558800"/>
                <a:gridCol w="685800"/>
                <a:gridCol w="698500"/>
                <a:gridCol w="698500"/>
              </a:tblGrid>
              <a:tr h="33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5-Level Hierarchy Rollup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Classes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0-VLM CLM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3.5-Lite ★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3.8-Flash 🏆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33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L1: HUL vs. Rival Owner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98.6%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98.8%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99.2%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33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L2A / L2B: Cat &amp; Pack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 / 18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94.7 / 90.4%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96.2 / 93.3%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96.8 / 93.2%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3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L3: Master Brand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953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96.6%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97.4%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97.5%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L4: Base Variant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2,104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86.1%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89.2%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91.5%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3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L5: Exact SKU + Size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2,659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78.6%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81.9%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84.5%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14"/>
          <p:cNvSpPr/>
          <p:nvPr/>
        </p:nvSpPr>
        <p:spPr>
          <a:xfrm>
            <a:off x="4838700" y="3251200"/>
            <a:ext cx="4076700" cy="15495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905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927600" y="3289300"/>
            <a:ext cx="3898800" cy="14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the 2-Gate Funnel Cuts Cost by 62% (H3 &amp; H5 Confirmed):</a:t>
            </a:r>
            <a:endParaRPr b="1" sz="72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[Gate 1 — 68% Auto-Accepted @ ₹0 VLM Cost]: CLM InfoNCE (0.78·max_cos + 0.22·centroid_cos + 0.035·CIELAB) resolves 68% of crops when Z-Score z ≥ 1.65 &amp; LID ≤ 12.5 in 0.43s.</a:t>
            </a:r>
            <a:endParaRPr sz="72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[Gate 2 — 32% Hard Sister-SKU Ties → Flash-Lite]: Medoid-deduped crops (4 rows/call = 0.42 VLM calls/crop) with bottom-30% net-weight zoom strip reach 81.9% SKU at ₹0.12/shelf.</a:t>
            </a:r>
            <a:endParaRPr sz="72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[Optical Tube Unwarp — 3.8-Flash]: Cylindrical unwarp x = R·arcsin(u/R) lifts curved tubes/sachets to 84.5% Exact SKU.</a:t>
            </a:r>
            <a:endParaRPr sz="72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" y="1475267"/>
            <a:ext cx="4406901" cy="2459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228600" y="63500"/>
            <a:ext cx="868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Across all 4 retail tasks (Classification, Retrieval, Detection, Planogram &amp; Promo), Hybrid beats SFT-alone</a:t>
            </a:r>
            <a:endParaRPr b="1" sz="14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28600" y="4902200"/>
            <a:ext cx="711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Hypotheses H4 &amp; H6 Confirmed (#121756 SFT vs #025000-Lite Hybrid; #032240/#203937 Det; #022245 Bay; #024020 Promo)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366000" y="4902200"/>
            <a:ext cx="15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Deck_Summary_v1  |  4 / 5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2286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2286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429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91.4% vs 69.7%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3429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Flash-Lite vs SFT-Alone (+21.7 pts)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24257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2425700" y="5842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25400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69.5% / 62.3% F2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25400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Stage-1 Detection F2 (vs 51.1% Legacy YOLO)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6228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6228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7371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99.4% – 100.0%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371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Merchandising Bay Block Purity (vs 72.4%)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8199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819900" y="5842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9342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96.0% Promo SKU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9342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+21.0 pts vs Legacy Toker ViT-240 (75.0%)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25" name="Google Shape;125;p15"/>
          <p:cNvGraphicFramePr/>
          <p:nvPr/>
        </p:nvGraphicFramePr>
        <p:xfrm>
          <a:off x="228600" y="116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{D513902A-E865-440C-8D0D-B82527EEFA12}</a:tableStyleId>
              </a:tblPr>
              <a:tblGrid>
                <a:gridCol w="1955800"/>
                <a:gridCol w="1295400"/>
                <a:gridCol w="1295400"/>
                <a:gridCol w="1295400"/>
                <a:gridCol w="1422400"/>
                <a:gridCol w="1422400"/>
              </a:tblGrid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Retail Production Task &amp; Dataset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13-Model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3.5-Lite SFT Alone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0-VLM CLM (#013247)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3.5-Lite ★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5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3.8-Flash 🏆</a:t>
                      </a:r>
                      <a:endParaRPr b="1" sz="75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1A. Market Share 3-Attr (N=1,000)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16.0% Raw / 43.0%</a:t>
                      </a:r>
                      <a:endParaRPr sz="72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69.7% (87.2% M)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89.5% (93.9% M)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(95.6% M)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92.2% (96.0% M)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1B. Exact 5-Attr SKU (2,659 SKUs)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(No SKU Head)</a:t>
                      </a:r>
                      <a:endParaRPr sz="72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68.2% (#013248)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78.6% (98.6% L1)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81.9% (98.8% L1)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84.5% (99.2% L1)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Stage-1 Detection (SKU110K/GT)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51.1% F2 (1-Class)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N/A (Crop Only)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69.5% F2 (ONNX)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69.5% / 62.3% F2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69.5% / 62.3% F2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Bay Planogram (gt_hul_sessions)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72.4% (Xception)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N/A (No Bay Box)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86.0% Bay Purity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99.4% (94.5% L1)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100.0% (95.0% L1)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 Toker Promo &amp; SKU Onboarding</a:t>
                      </a:r>
                      <a:endParaRPr b="1"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75.0% (2–3wk train)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71.2% (Re-tune SFT)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2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77.0% (&lt;1m swap)</a:t>
                      </a:r>
                      <a:endParaRPr sz="72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92.4% (&lt;1m swap)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2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96.0% (&lt;1m swap)</a:t>
                      </a:r>
                      <a:endParaRPr b="1" sz="72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5"/>
          <p:cNvSpPr/>
          <p:nvPr/>
        </p:nvSpPr>
        <p:spPr>
          <a:xfrm>
            <a:off x="228600" y="4089400"/>
            <a:ext cx="8686800" cy="73650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19050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17500" y="4114800"/>
            <a:ext cx="85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Hybrid Retrieval + Base 3.5-Flash-Lite Beats Standalone SFT (H4 Confirmed) &amp; Granularity Disclosure:</a:t>
            </a:r>
            <a:endParaRPr b="1" sz="720">
              <a:solidFill>
                <a:srgbClr val="9240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Standalone LoRA SFT (#121756: 69.7% 3-Attr / 68.2% 5-Attr at ₹0.22/shelf) memorizes training labels but struggles on 2,659 look-alike SKUs. Pairing CLM top-5 visual reference sheets with Base 3.5-Flash-Lite (#025000-Lite) jumps to 91.4% 3-Attr / 81.9% 5-Attr at ₹0.12/shelf and zero retraining.</a:t>
            </a:r>
            <a:endParaRPr sz="72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Transparency Disclosure: Open-set competitor shelf boxes ('Others____Others____NA') are evaluated at L1/L2/L3 granularity (is_others_catchall=True).</a:t>
            </a:r>
            <a:endParaRPr sz="72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228600" y="63500"/>
            <a:ext cx="868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 rollout at 100K stores/month cuts monthly run-rate by 62% (₹3.60L vs. ₹9.60L) with zero retraining</a:t>
            </a:r>
            <a:endParaRPr b="1" sz="14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228600" y="4902200"/>
            <a:ext cx="711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GCP Cloud Billing Catalog API (USD→INR = 95.98875) + Phase 1 Reconciliation Log (analysis_v1.xlsx, 0.0000 Variance)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366000" y="4902200"/>
            <a:ext cx="15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Deck_Summary_v1  |  5 / 5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286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286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3429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₹3.60L / Month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429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100K Stores (30L Shelves) on 3.5-Flash-Lite ★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4257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425700" y="5842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25400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₹6.00L / mo Saved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25400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-62% TCO Reduction vs ₹9.60L Legacy 13-Model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6228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6228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47371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 1 Min SKU Swap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7371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Drop 4 Reference Photos in GCS (0 Retraining)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8199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819900" y="5842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9342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0.0000 Variance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9342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Reconciled Across 144 Cloud Run Runs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52" name="Google Shape;152;p16"/>
          <p:cNvGraphicFramePr/>
          <p:nvPr/>
        </p:nvGraphicFramePr>
        <p:xfrm>
          <a:off x="228600" y="124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{D513902A-E865-440C-8D0D-B82527EEFA12}</a:tableStyleId>
              </a:tblPr>
              <a:tblGrid>
                <a:gridCol w="1346200"/>
                <a:gridCol w="635000"/>
                <a:gridCol w="863600"/>
                <a:gridCol w="812800"/>
                <a:gridCol w="812800"/>
              </a:tblGrid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Architecture Tier (30 Lakh Shelves / Month)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 / Shelf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Monthly Run-Rate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3-Attr / 5-Attr Acc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Recommended Scope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 Legacy 13-Model Chain (GPU + CPU)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₹0.320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₹9.60 Lakhs / mo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16% Raw (43%) / 0%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Decommission (13 models)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 Tier A: Zero-VLM CLM InfoNCE (#013247)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₹0.050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₹1.50 Lakhs / mo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89.5% / 78.6% SKU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High-freq GT daily scans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 Tier B: Hybrid + 3.5-Flash-Lite ★ (#025000)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₹0.120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₹3.60 Lakhs / mo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/ 81.9% SKU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Primary Production Default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3. Tier C: Hybrid + 3.8-Flash Peak 🏆 (#025000)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₹0.210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₹6.30 Lakhs / mo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92.2% / 84.5% SKU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MT Hypermarkets &amp; Promo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Google Shape;153;p16"/>
          <p:cNvGraphicFramePr/>
          <p:nvPr/>
        </p:nvGraphicFramePr>
        <p:xfrm>
          <a:off x="4800600" y="124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{D513902A-E865-440C-8D0D-B82527EEFA12}</a:tableStyleId>
              </a:tblPr>
              <a:tblGrid>
                <a:gridCol w="1041400"/>
                <a:gridCol w="1701800"/>
                <a:gridCol w="1371600"/>
              </a:tblGrid>
              <a:tr h="58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Rollout Phase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Target Scope &amp; Milestone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Success Gate / Sign-Off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2CC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Phase 1 (Weeks 1–2)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Shadow Audit on 10K GT + MT shelves alongside legacy chain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≥91% 3-Attr, ≥81% 5-Attr SKU, ≤2.7s P50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Phase 2 (Weeks 3–4)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Cutover GT Sessions, Bay Planogram &amp; Toker Promo to Flash-Lite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≥99% Bay Block Purity &amp; ≥95% Promo SKU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Phase 3 (Weeks 5–6)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Full 100K-Store Cutover + Decommission 13 Legacy Models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₹6.00L/mo verified billing reduction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16"/>
          <p:cNvSpPr/>
          <p:nvPr/>
        </p:nvSpPr>
        <p:spPr>
          <a:xfrm>
            <a:off x="228600" y="3683000"/>
            <a:ext cx="8686800" cy="11175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9050">
            <a:solidFill>
              <a:srgbClr val="005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317500" y="3721100"/>
            <a:ext cx="8508900" cy="10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4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4 Quality Assurance, Reconciliation Audit &amp; Runtime Disclosures:</a:t>
            </a:r>
            <a:endParaRPr b="1" sz="74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100% Data Reconciliation (analysis_v1.xlsx): Every metric across Slides 1–5 matches the two-pass deterministic audit of 144 Cloud Run summary.json files in gs://ul-fs-s-sandbx-16-prj-shelf-images/results/ with 0.0000 numerical variance.</a:t>
            </a:r>
            <a:endParaRPr sz="74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Live Cloud Run Portal &amp; Interactive Drill-Downs: https://shelf-ui-jbn2qgbina-uc.a.run.app/cio (every run ID links to per-crop traces &amp; bounding-box overlays).</a:t>
            </a:r>
            <a:endParaRPr sz="74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4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Runtime Disclosure: Click-sequence narrative cues ([Click 1], [Click 2], [Click 3]) are embedded in every slide's Speaker Notes so static PDF/PPTX exports remain 100% complete and legible on the final state.</a:t>
            </a:r>
            <a:endParaRPr sz="74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228600" y="63500"/>
            <a:ext cx="8686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Consolidating 13 legacy models into 1 Hybrid 3.5-Flash-Lite pipeline lifts 3-Attr to 91.4% at 62% lower cost</a:t>
            </a:r>
            <a:endParaRPr b="1" sz="14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228600" y="4902200"/>
            <a:ext cx="7112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</a:t>
            </a: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Phase 1 Verified Reconciliation Log (analysis_v1.xlsx, MAX_VARIANCE = 0.0000 across 144 Cloud Run executions)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366000" y="4902200"/>
            <a:ext cx="154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Deck_Summary_v1  |  1 / 5</a:t>
            </a:r>
            <a:endParaRPr sz="75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2286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286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429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91.4% / 81.9%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3429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3-Attr Exact / 5-Attr SKU (vs 16% / 0% Legacy)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4257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425700" y="584200"/>
            <a:ext cx="57300" cy="533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25400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₹0.12 / Shelf</a:t>
            </a:r>
            <a:endParaRPr b="1" sz="13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25400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-62% Cost Reduction (vs ₹0.32 Legacy 13-Model)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6228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622800" y="584200"/>
            <a:ext cx="57300" cy="533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47371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052C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2.69s Latency</a:t>
            </a:r>
            <a:endParaRPr b="1" sz="1300">
              <a:solidFill>
                <a:srgbClr val="0052C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47371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3.2x Faster P50 (vs 8.5s Sequential Legacy)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819900" y="584200"/>
            <a:ext cx="2095500" cy="533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6819900" y="584200"/>
            <a:ext cx="57300" cy="533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6934200" y="609600"/>
            <a:ext cx="1917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→ 1 Models</a:t>
            </a:r>
            <a:endParaRPr b="1" sz="13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6934200" y="83820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-91% Model Calls/Shelf (1.42 vs 11-13 Legacy)</a:t>
            </a:r>
            <a:endParaRPr sz="73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228600" y="1181100"/>
            <a:ext cx="8686800" cy="431700"/>
          </a:xfrm>
          <a:prstGeom prst="roundRect">
            <a:avLst>
              <a:gd fmla="val 16667" name="adj"/>
            </a:avLst>
          </a:prstGeom>
          <a:solidFill>
            <a:srgbClr val="FFFBEB"/>
          </a:solidFill>
          <a:ln cap="flat" cmpd="sng" w="19050">
            <a:solidFill>
              <a:srgbClr val="FFA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17500" y="1206500"/>
            <a:ext cx="8508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80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⚠ ROOT-CAUSE ANOMALY DIAGNOSIS (Why Legacy Scored 16% Raw / 0% SKU):</a:t>
            </a:r>
            <a:r>
              <a:rPr lang="en-GB" sz="780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(1) 46 overlapping pack labels caused 23.6% pack accuracy (#010924); (2) Alphabetical 360-SKU (A–H) cap blinded legacy retrieval to 2,299 SKUs (I–Z); (3) 11–13 sequential model calls compounded errors with zero L4/L5 variant/SKU heads.</a:t>
            </a:r>
            <a:endParaRPr sz="780">
              <a:solidFill>
                <a:srgbClr val="92400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182" name="Google Shape;182;p17"/>
          <p:cNvGraphicFramePr/>
          <p:nvPr/>
        </p:nvGraphicFramePr>
        <p:xfrm>
          <a:off x="2286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{D513902A-E865-440C-8D0D-B82527EEFA12}</a:tableStyleId>
              </a:tblPr>
              <a:tblGrid>
                <a:gridCol w="1955800"/>
                <a:gridCol w="1219200"/>
                <a:gridCol w="1219200"/>
                <a:gridCol w="1295400"/>
                <a:gridCol w="1574800"/>
                <a:gridCol w="1422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Evaluation Metric / Business KPI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Raw 46-Pack (#010924)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Legacy Harmonized (#115811)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Standalone 3.5-Lite SFT (#121756)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Hybrid CLM + 3.5-Flash-Lite ★ (#025000-Lite)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70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Peak CLM + 3.8-Flash 🏆 (#025000)</a:t>
                      </a:r>
                      <a:endParaRPr b="1" sz="770">
                        <a:solidFill>
                          <a:srgbClr val="FFFFFF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3-Attribute Exact (Cat × Brand × Pack)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16.0% (73.7% Mean)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43.0% (+27.0 pts)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69.7% (87.2% Mean)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91.4% (95.6% Mean)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92.2% (96.0% Mean)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5-Attribute Exact SKU (2,659 SKUs A–Z)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(No Variant)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(No Variant)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68.2% (#013248)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81.9% (91.4% Tree)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84.5% (92.8% Tree)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L1 Unilever vs. Rival Ownership (SoS)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 (No L1 Head)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(Brand Proxy)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95.5% L1 HUL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98.8% (1.2% SoS Err)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99.2% (0.8% SoS Err)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L3 Brand / L2B Pack Form Accuracy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/ 23.6% Raw</a:t>
                      </a:r>
                      <a:endParaRPr sz="740">
                        <a:solidFill>
                          <a:srgbClr val="DC2626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88.8% / 47.8% (18p)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91.8% / 74.7%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97.4% / 93.3%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97.5% / 93.2%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Stage-1 Detection F2 / Bay Purity / Promo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51.1% / 72.4% / 75%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51.1% / 72.4% / 75%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N/A (Crop Only)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69.5% / 99.4% / 96.0%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🏆 69.5% / 100% / 96.0%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Latency (P50) &amp; All-In Cost / Shelf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8.50s | ₹0.32/shelf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8.50s | ₹0.32/shelf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1.31s | ₹0.22/shelf</a:t>
                      </a:r>
                      <a:endParaRPr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4785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★ 2.69s | ₹0.12 (-62%)</a:t>
                      </a:r>
                      <a:endParaRPr b="1" sz="740">
                        <a:solidFill>
                          <a:srgbClr val="047857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74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7.09s | ₹0.21 (-34%)</a:t>
                      </a:r>
                      <a:endParaRPr b="1" sz="740">
                        <a:solidFill>
                          <a:srgbClr val="0F172A"/>
                        </a:solidFill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