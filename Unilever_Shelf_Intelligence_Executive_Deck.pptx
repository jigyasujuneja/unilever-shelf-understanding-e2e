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Google Sans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B989E2-BEE7-4EF9-91B1-D619EE996A8B}">
  <a:tblStyle styleId="{F9B989E2-BEE7-4EF9-91B1-D619EE996A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GoogleSans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GoogleSans-bold.fntdata"/><Relationship Id="rId18" Type="http://schemas.openxmlformats.org/officeDocument/2006/relationships/font" Target="fonts/Google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ul_exec_slide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ul_exec_slide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=== SLIDE 2 SPEAKER NOTES &amp; FULL-PROOF LINEAGE PROOFS 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Live Architecture &amp; 12/12 Data QC Audits Tab: https://shelf-ui-861928090809.us-central1.run.app/exec#/how-it-works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Engineering Data Quality Control &amp; Forensics Workbench: https://shelf-ui-861928090809.us-central1.run.app/engineering#/qc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Master Catalog &amp; Centroid Index in GCS: https://console.cloud.google.com/storage/browser/ul-fs-s-sandbx-16-prj-shelf-images/Consolidated_data_v2?project=ul-fs-s-sandbx-16-prj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Why Legacy Chained Models Struggled (Innovation 1 — Eliminating Cascading Errors):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Direct Cloud Run proof of chained legacy Keras models (#115811: marketshare_brand.h5 + marketshare_packtype.h5 on hul_golden N=1,000, Cloud Run shelf-bench-jxqcl task 0): 88.8% Brand × 47.8% mapped Pack (23.6% raw 46-pack in #010924) × 84.4% Category = 43.0% 3-Attr Exact (73.7% 3-Attr Mean; 16.0% on un-harmonized 46-pack labels; 0.0% 5-Attr SKU): https://shelf-ui-861928090809.us-central1.run.app/engineering#/run/1013-115811-cv_classify-marketshare_brand.h5+marketshare_packtype.h5-hul_golden-3attr-brand_packaging_type_category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Harmonized 46 Category × Pack-Form Classes (Innovation 2 — P0-EXP-16):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Pack-form stress test on N=1,000 hul_packs (#031440 Ultimate 3.8-Flash: 81.8% 5-Attr, 89.5% Pack, 95.0% Brand, Cloud Run shelf-bench-gncsv task 0): https://shelf-ui-861928090809.us-central1.run.app/engineering#/run/1013-031440-l8_hul_ultimate-gemini-3.8-flash-priority-hul_packs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Pack-form on hul_golden N=1,000 (#025000-Lite: 93.3% Pack vs 23.6% raw packtype.h5 #010924 = +69.7% lift).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Purged 399,412 Cross-Folder Duplicates &amp; Expanded 874 Competitor Brands (Innovation 3 — P0-EXP-17):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- 5.14M raw files audited -&gt; 1,002,209 crop files -&gt; 602,797 unique MD5-deduplicated crops across 2,659 SKUs (1,073 HUL + 1,586 Rival SKUs across 953 named brands).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Brand benchmark on N=1,000 hul_brands (#034648 Ultimate Lite: 95.9% Brand, 98.4% L1 HUL, Cloud Run shelf-bench-bw6lb task 1): https://shelf-ui-861928090809.us-central1.run.app/engineering#/run/1013-034648-l8_hul_ultimate-gemini-3.5-flash-lite-priority-hul_brands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Optical &amp; Geometric Priors (Innovation 4 — P0-EXP-09, P1-EXP-20, P0-EXP-21, P1-EXP-22, P0-EXP-23):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P0-EXP-21 Cylindrical Tube Unwarp + Middle-30% Zoom Strip on N=1,000 hul_variants (#025000 Ultimate 3.8-Flash: 82.6% 5-Attr, 95.7% 3-Attr Mean, 91.8% 3-Attr Exact, P50=3.91s, Cloud Run shelf-bench-ppfnw task 2): https://shelf-ui-861928090809.us-central1.run.app/engineering#/run/1013-025000-l8_hul_ultimate-gemini-3.8-flash-priority-hul_variants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P1-EXP-20 Outlet-Scoped CLM+JEV (#025001: 79.0% 5-Attr at P50=0.93s, Cloud Run shelf-bench-zwdrb task 1): https://shelf-ui-861928090809.us-central1.run.app/engineering#/run/1013-025001-outlet_scoped_clm_jev-gemini-3.8-flash-priority-hul_golden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P0-EXP-23 Shelf-Plank Height Ratio Size Prior (#025001: 78.5% 5-Attr at P50=1.16s, Cloud Run shelf-bench-zwdrb task 7): https://shelf-ui-861928090809.us-central1.run.app/engineering#/run/1013-025001-shelf_height_size_prior_jev-gemini-3.8-flash-priority-hul_golden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ul_exec_slide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ul_exec_slide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=== SLIDE 3 SPEAKER NOTES &amp; FULL-PROOF LINEAGE PROOFS 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 row in the Cross-Architecture Head-to-Head Table links directly to an immutable Google Cloud Run summary.json on N=1,000 hul_golden: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Row 1 — Legacy 13-Model Chain (#115811, rgavigan, N=1,000 hul_golden, Cloud Run shelf-bench-jxqcl task 0):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Metrics: 88.8% Brand, 84.4% Category, 47.8% mapped Pack (23.6% raw 46-pack in #010924), 73.7% 3-Attr Mean, 43.0% 3-Attr Exact (16.0% un-harmonized), 50.5% W1.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UI Proof Link: https://shelf-ui-861928090809.us-central1.run.app/engineering#/run/1013-115811-cv_classify-marketshare_brand.h5+marketshare_packtype.h5-hul_golden-3attr-brand_packaging_type_category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Cloud Run Execution Console: https://console.cloud.google.com/run/jobs/executions/details/us-central1/shelf-bench-jxqcl?project=ul-fs-s-sandbx-16-prj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Row 2 — Standalone Fine-Tuned Gemini 3.5-Flash-Lite SFT (#121756, rgavigan, N=1,000 hul_golden, Cloud Run shelf-bench-q75sj task 1):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Vertex AI Model Registry Resource: projects/861928090809/locations/europe-west4/models/6660398128098213888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Vertex AI Console Link: https://console.cloud.google.com/vertex-ai/models/locations/europe-west4/models/6660398128098213888?project=ul-fs-s-sandbx-16-prj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Metrics: 69.7% 3-Attr Exact, 87.2% 3-Attr Mean (93.9% Brand, 93.1% Category, 74.7% Pack), P50=1.31s, P95=1.83s, $0.000937/crop (*80.0% 3-Attr &amp; 100% L1 HUL on N=100 #203751).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UI Proof Link: https://shelf-ui-861928090809.us-central1.run.app/engineering#/run/1013-121756-gemini_classify-marketshare-hul-golden-clean-sft-euw4-gemini-3-5-flash-lite-priority-hul_golden-3attr-brand_packaging_type_category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Row 3 — Plug-In Hybrid CLM Gate + 3.5-Flash-Lite SFT (#121755 &amp; #121432, rgavigan, N=1,000 hul_golden, Cloud Run shelf-bench-q75sj task 0 &amp; shelf-bench-6mtmq task 1):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Metrics (#121755 Hybrid SFT): 91.1% 3-Attr Exact, 95.4% 3-Attr Mean (97.0% Brand, 96.6% Category, 92.6% Pack), $0.000380/crop.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Metrics (#121432 Hybrid Max Lite): 91.1% 3-Attr Exact, 94.9% 3-Attr Mean (95.8% Brand, 96.3% Category, 92.6% Pack), P50=4.21s, P95=8.82s, $0.000454/crop.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UI Proof Link (#121755): https://shelf-ui-861928090809.us-central1.run.app/engineering#/run/1013-121755-hybrid_classify_sft-marketshare-hul-golden-clean-sft-euw4-gemini-3-5-flash-lite-priority-hul_golden-3attr-brand_packaging_type_category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UI Proof Link (#121432): https://shelf-ui-861928090809.us-central1.run.app/engineering#/run/1013-121432-hybrid_classify_max-gemini-3.5-flash-lite-priority-hul_golden-3attr-brand_packaging_type_category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Row 4 — Zero-VLM Fast Path (#013247, jjuneja, N=1,000 hul_golden, Cloud Run shelf-bench-kh9hm task 6):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Metrics: 78.6% 5-Attr Exact SKU, 93.9% 3-Attr Mean (89.5% 3-Attr Exact), 98.6% L1 HUL, 95.8% Category, 90.4% Pack, 95.6% Brand, $0.000228/crop ($0.00059/shelf = ₹0.05/img).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UI Proof Link: https://shelf-ui-861928090809.us-central1.run.app/engineering#/run/1013-013247-clm_standalone-gemini-embedding-2-hul_golden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Row 5 — Recommended Production Hybrid Fast-Lite (#025000-Lite, jjuneja, N=1,000 hul_golden, Cloud Run shelf-bench-zwdrb task 10):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Metrics: 81.9% 5-Attr Exact SKU, 95.6% 3-Attr Mean (91.4% 3-Attr Exact), 99.0% L1 HUL, 96.9% Category, 93.3% Pack, 96.6% Brand, P50=2.69s, P95=4.41s, $0.000910/crop.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UI Proof Link: https://shelf-ui-861928090809.us-central1.run.app/engineering#/run/1013-025000-clef_standalone-gemini-3.5-flash-lite-priority-hul_golden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Row 6 — Peak-Accuracy Hybrid Max (#025000 3.8-Flash, jjuneja, N=1,000 hul_golden, Cloud Run shelf-bench-zwdrb task 11):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Metrics: 84.5% 5-Attr Exact SKU, 96.0% 3-Attr Mean (92.2% 3-Attr Exact), 92.8% 5-Level Hierarchy Score, 99.2% L1 HUL, 97.5% Category, 93.2% Pack, 97.4% Brand, P50=7.09s.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UI Proof Link: https://shelf-ui-861928090809.us-central1.run.app/engineering#/run/1013-025000-clef_standalone-gemini-3.8-flash-priority-hul_golden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ul_exec_slide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ul_exec_slide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=== SLIDE 4 SPEAKER NOTES &amp; FULL-PROOF LINEAGE PROOFS 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Full 13-Model Legacy Replacement &amp; GT/MT Scope Matrix in Executive UI: https://shelf-ui-861928090809.us-central1.run.app/exec#/performance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Vertex AI &amp; GCS Registered Model Artifacts (6 Models):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1. yolo11n-distilled-onnx (Stage 1 Dual-Class CPU ONNX): gs://ul-fs-s-sandbx-16-prj-shelf-images/models/yolo11n_distilled.onnx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- Proof Run #032240 (sku110k N=60, 69.5% F2, 80.2% Prec): https://shelf-ui-861928090809.us-central1.run.app/engineering#/run/1013-032240-distilled_yolo_onnx-yolo11n-distilled-onnx-sku110k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- Proof Run #031926 (gtmerch_golden N=100, 1.49s P50, $0.000038/shelf): https://shelf-ui-861928090809.us-central1.run.app/engineering#/run/1013-031926-distilled_yolo_onnx-yolo11n-distilled-onnx-gtmerch_golden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- Proof Run #155009 (Full-Shelf E2E on gtmerch_golden N=25, Cloud Run shelf-bench-5ntnb): https://shelf-ui-861928090809.us-central1.run.app/engineering#/run/1013-155009-shelf_hierarchical_clm_jev-gemini-3.5-flash-lite-priority-gtmerch_golden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2. yolov12s-sku110k-legacy (Legacy 1-Class Detector Baseline, 50.4% F2): gs://ul-fs-s-sandbx-16-prj-shelf-images/models/yolov12s_sku110k.pt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- Proof Run #203935: https://shelf-ui-861928090809.us-central1.run.app/engineering#/run/1012-203935-yolo_sku110k-yolov12s-sku110k-gtmerch_golden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3. marketshare_brand.h5 (Legacy XceptionNet Brand Classifier, 88.8% 1-Attr): gs://ul-fs-s-sandbx-16-prj-shelf-images/models/legacy_marketshare/marketshare_brand.h5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4. marketshare_packtype.h5 (Legacy InceptionNet Pack Classifier, 23.6% raw / 47.8% mapped): gs://ul-fs-s-sandbx-16-prj-shelf-images/models/legacy_marketshare/marketshare_packtype.h5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- Chained Proof Run #115811 (43.0% 3-Attr Exact): https://shelf-ui-861928090809.us-central1.run.app/engineering#/run/1013-115811-cv_classify-marketshare_brand.h5+marketshare_packtype.h5-hul_golden-3attr-brand_packaging_type_category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5. clm-hierarchy-2659sku-index (Master 2,659-SKU Centroid Index v2.2): gs://ul-fs-s-sandbx-16-prj-shelf-images/Consolidated_data_v2/index/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6. marketshare-hul-golden-clean-sft-euw4 (Vertex AI Tuned Gemini 3.5-Flash-Lite LoRA SFT): https://console.cloud.google.com/vertex-ai/models/locations/europe-west4/models/6660398128098213888?project=ul-fs-s-sandbx-16-prj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ul_exec_slide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ul_exec_slide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=== SLIDE 5 SPEAKER NOTES &amp; FULL-PROOF LINEAGE PROOFS 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Interactive Stage-Level Cost Simulator &amp; Cloud Billing Receipt in UI: https://shelf-ui-861928090809.us-central1.run.app/exec#/overview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Live GCP Cloud Billing SKU Pricing Implementation: src/utils/pricing.py (queries cloudbilling.googleapis.com)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Contractual POC KPI Verification Links: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KPI-1 Cost per Image (Target &lt;= ₹0.22 / $0.0025 vs ₹0.32 Legacy):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Zero-VLM Fast Path (#013247): $0.00059/shelf (₹0.05/image), $0.000228/crop -&gt; https://shelf-ui-861928090809.us-central1.run.app/engineering#/run/1013-013247-clm_standalone-gemini-embedding-2-hul_golden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Production Hybrid Fast-Lite (#025000-Lite / #013248-Lite): $0.00139/shelf (₹0.12/image) at 32% System-2 escalation -&gt; https://shelf-ui-861928090809.us-central1.run.app/engineering#/run/1013-025000-clef_standalone-gemini-3.5-flash-lite-priority-hul_golden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Plug-In Hybrid SFT (#121755): $0.000380/crop (₹0.0365/crop) -&gt; https://shelf-ui-861928090809.us-central1.run.app/engineering#/run/1013-121755-hybrid_classify_sft-marketshare-hul-golden-clean-sft-euw4-gemini-3-5-flash-lite-priority-hul_golden-3attr-brand_packaging_type_category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KPI-2 Accuracy (Target &gt;= 90% Val Avg across 12 Models &amp; &gt;= 87% Field MarketShare):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#025000 CLEF 3.8-Flash (N=1,000): 92.8% 5-Level Hierarchy Score, 96.0% 3-Attr Field Mean (92.2% Exact), 84.5% 5-Attr Exact SKU.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#025000-Lite CLEF 3.5-Flash-Lite (N=1,000): 91.4% 5-Level Hierarchy Score, 95.6% 3-Attr Field Mean (91.4% Exact), 81.9% 5-Attr Exact SKU.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KPI-3 Server-Side P95 Latency SLO (Target &lt;= 30.0s):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#025000-Lite: P50=2.69s, P95=4.41s (6.8x faster than 30s SLO).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#013248-Lite: P50=2.51s, P95=5.60s -&gt; https://shelf-ui-861928090809.us-central1.run.app/engineering#/run/1013-013248-hierarchical_clm_jev-gemini-3.5-flash-lite-priority-hul_golden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#121432 Hybrid Max Lite: P50=4.21s, P95=8.82s -&gt; https://shelf-ui-861928090809.us-central1.run.app/engineering#/run/1013-121432-hybrid_classify_max-gemini-3.5-flash-lite-priority-hul_golden-3attr-brand_packaging_type_category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KPI-4 6-Image Batch Request Latency (Target &lt;= 5.0s/image avg):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#025000-session (P1-EXP-25 Session Overlap Dedup): P50=0.87s (3.8-Flash) to 1.58s (3.5-Flash-Lite, P95=4.03s) -&gt; https://shelf-ui-861928090809.us-central1.run.app/engineering#/run/1013-025000-session_overlap_dedup_jev-gemini-3.5-flash-lite-priority-hul_golden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#155008 Full-Shelf Session Overlap E2E on hul_sessions (N=25, Cloud Run shelf-bench-llm5r): P50=8.49s per multi-shelf session -&gt; https://shelf-ui-861928090809.us-central1.run.app/engineering#/run/1013-155008-session_overlap_dedup_e2e-gemini-3.5-flash-lite-priority-hul_sessions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KPI-5 Throughput (Target &gt;= 32,393 images/hr):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#031926 Stage-1 CPU ONNX (45,000 imgs/vCPU-hr at ₹0 GPU cost; 64,800+ imgs/hr on Cloud Run pool).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ul_exec_slide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ul_exec_slide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=== SLIDE 6 SPEAKER NOTES &amp; FULL-PROOF LINEAGE PROOFS 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Engineering Chronicle &amp; 26-Experiment Matrix: https://shelf-ui-861928090809.us-central1.run.app/engineering#/story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Model &amp; Index Registry View: https://shelf-ui-861928090809.us-central1.run.app/engineering#/models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Run Experiment Proofs for the 4 Roadmap &amp; Onboarding Levers: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Zero-Annotation Cold-Start &amp; Incremental SKU Discovery (MOON-EXP-15):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Cloud Run Job Execution: https://console.cloud.google.com/run/jobs/executions/details/us-central1/shelf-bench-bc8zb?project=ul-fs-s-sandbx-16-prj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Run #153923 (cold_start_lid_discovery on hul_golden N=100: 100% L1 HUL, 93.0% Brand, 92.0% Category, P50=4.27s): https://shelf-ui-861928090809.us-central1.run.app/engineering#/run/1013-153923-cold_start_lid_discovery-gemini-3.5-flash-lite-priority-hul_golden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Lever 1 — Grammage Size Disambiguation (P0-EXP-23 Shelf-Plank Height Ratio &amp; P1-EXP-20 Store Cohort Prior):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Cloud Run Job Execution: https://console.cloud.google.com/run/jobs/executions/details/us-central1/shelf-bench-zwdrb?project=ul-fs-s-sandbx-16-prj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P0-EXP-23 Run #025001 (shelf_height_size_prior_jev on hul_golden N=1,000, P50=1.16s): https://shelf-ui-861928090809.us-central1.run.app/engineering#/run/1013-025001-shelf_height_size_prior_jev-gemini-3.8-flash-priority-hul_golden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P1-EXP-20 Run #025001 (outlet_scoped_clm_jev on hul_golden N=1,000, P50=0.93s): https://shelf-ui-861928090809.us-central1.run.app/engineering#/run/1013-025001-outlet_scoped_clm_jev-gemini-3.8-flash-priority-hul_golden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Lever 2 — 5-Attribute LoRA SFT Checkpoint Promotion (P1-EXP-14):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Cloud Run Job Execution: https://console.cloud.google.com/run/jobs/executions/details/us-central1/shelf-bench-q75sj?project=ul-fs-s-sandbx-16-prj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Hybrid SFT Run #121755 (91.1% 3-Attr Exact, 95.4% Mean on N=1,000): https://shelf-ui-861928090809.us-central1.run.app/engineering#/run/1013-121755-hybrid_classify_sft-marketshare-hul-golden-clean-sft-euw4-gemini-3-5-flash-lite-priority-hul_golden-3attr-brand_packaging_type_category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Lever 3 — Multi-Frame Session Border Deduplication &amp; Full-Shelf Stitching (P1-EXP-18 &amp; P1-EXP-25):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Cloud Run Job Execution: https://console.cloud.google.com/run/jobs/executions/details/us-central1/shelf-bench-llm5r?project=ul-fs-s-sandbx-16-prj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Full-Shelf E2E Run #155009 (shelf_hierarchical_clm_jev on hul_sessions N=25: 70.0% 5-Attr SKU, 91.0% Brand, 94.5% L1 HUL): https://shelf-ui-861928090809.us-central1.run.app/engineering#/run/1013-155009-shelf_hierarchical_clm_jev-gemini-3.8-flash-priority-hul_sessions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Session Overlap Dedup E2E Run #155009 (session_overlap_dedup_e2e on hul_sessions N=25: 67.0% 5-Attr SKU, 90.5% Brand, 94.5% L1 HUL): https://shelf-ui-861928090809.us-central1.run.app/engineering#/run/1013-155009-session_overlap_dedup_e2e-gemini-3.8-flash-priority-hul_sessions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ul_exec_slide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ul_exec_slide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=== SLIDE 7 SPEAKER NOTES: DATA ENRICHMENTS, FORENSICS &amp; STEP-CHANGE GAINS VS. LEGACY 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Live 12/12 Data QC &amp; Forensics Workbench: https://shelf-ui-861928090809.us-central1.run.app/engineering#/qc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Master Catalog &amp; Enriched Golden Manifests in GCS: https://console.cloud.google.com/storage/browser/marketshare-datasets/derived_manifests?project=ul-fs-s-sandbx-16-prj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Step-by-Step Empirical Proof Lineage Along the Way (N=1,000 hul_golden):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Milestone 0 — Legacy 13-Model Chain on Raw 46-Pack Labels (#010924): 16.0% 3-Attr Exact (88.8% Brand x 23.6% raw 46-pack x 84.4% Cat), 0.0% 5-Attr SKU.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Milestone 1 — + Pack-Form Harmonization (46 -&gt; 18 canonical physical pack forms, #115811): 43.0% 3-Attr Exact (+27.0 pts lift from pack taxonomy cleanup alone) -&gt; https://shelf-ui-861928090809.us-central1.run.app/engineering#/run/1013-115811-cv_classify-marketshare_brand.h5+marketshare_packtype.h5-hul_golden-3attr-brand_packaging_type_category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Milestone 2 — + 12-Gate Data Forensics (399,412 cross-folder dupes purged) + Standalone Gemini 3.5-Flash-Lite SFT (#121756): 69.7% 3-Attr Exact (+26.7 pts), 87.2% 3-Attr Mean, P50=1.31s -&gt; https://shelf-ui-861928090809.us-central1.run.app/engineering#/run/1013-121756-gemini_classify-marketshare-hul-golden-clean-sft-euw4-gemini-3-5-flash-lite-priority-hul_golden-3attr-brand_packaging_type_category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Milestone 3 — + Full 2,659-SKU (A-Z) Master Gallery + Zero-VLM CLM Index (#013247): 89.5% 3-Attr Exact (+19.8 pts), 78.6% 5-Attr Exact SKU, 98.6% L1 HUL at ₹0.05/shelf -&gt; https://shelf-ui-861928090809.us-central1.run.app/engineering#/run/1013-013247-clm_standalone-gemini-embedding-2-hul_golden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Milestone 4 — + Plug-In Hybrid CLM Gate + Gemini 3.5-Flash-Lite (#025000-Lite): 91.4% 3-Attr Exact, 95.6% 3-Attr Mean, 81.9% 5-Attr SKU at ₹0.12/shelf &amp; P50=2.69s -&gt; https://shelf-ui-861928090809.us-central1.run.app/engineering#/run/1013-025000-clef_standalone-gemini-3.5-flash-lite-priority-hul_golden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Milestone 5 — + Optical Tube Unwarp + Gemini 3.8-Flash Peak (#025000): 92.2% 3-Attr Exact, 96.0% 3-Attr Mean, 84.5% 5-Attr SKU, 92.8% 5-Level Hierarchy Score -&gt; https://shelf-ui-861928090809.us-central1.run.app/engineering#/run/1013-025000-clef_standalone-gemini-3.8-flash-priority-hul_golden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ul_exec_slide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ul_exec_slide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=== SLIDE 1 SPEAKER NOTES &amp; FULL-PROOF LINEAGE PROOFS 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Live Executive Summary Portal: https://shelf-ui-861928090809.us-central1.run.app/exec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Live Engineering Leaderboard (All 140+ Real Cloud Run Executions): https://shelf-ui-861928090809.us-central1.run.app/engineering#/board/market_share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GCP Cloud Run Jobs Console: https://console.cloud.google.com/run/jobs/details/us-central1/shelf-bench?project=ul-fs-s-sandbx-16-prj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Workload 1 — GT &amp; MT Merchandising (145K+ Visits/Day):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Multi-Photo Bay Planogram Verifier (#022245 3.8-Flash: 100% Bay Block Purity, 95.0% L1 HUL, 89.0% 3-Attr Mean, N=25 hul_sessions, Cloud Run shelf-bench-7nc6l task 0): https://shelf-ui-861928090809.us-central1.run.app/engineering#/run/1013-022245-bay_planogram_verifier-gemini-3.8-flash-priority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Fast-Lite Planogram Verifier (#022245 3.5-Flash-Lite: 99.4% Bay Block Purity, 94.5% L1 HUL, P50=5.25s, P95=6.75s, $0.00341/bay, Cloud Run shelf-bench-7nc6l task 1): https://shelf-ui-861928090809.us-central1.run.app/engineering#/run/1013-022245-bay_planogram_verifier-gemini-3.5-flash-lite-priority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Stage-1 CPU ONNX Detector on gtmerch_golden (#031926, N=100, P50=1.49s, $0.000038/shelf, Cloud Run shelf-bench-z787x task 0): https://shelf-ui-861928090809.us-central1.run.app/engineering#/run/1013-031926-distilled_yolo_onnx-yolo11n-distilled-onnx-gtmerch_golden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Stage-1 CPU ONNX Detector on sku110k (#032240, N=60, 69.5% F2, 80.2% Precision, Cloud Run shelf-bench-7d8z6 task 0): https://shelf-ui-861928090809.us-central1.run.app/engineering#/run/1013-032240-distilled_yolo_onnx-yolo11n-distilled-onnx-sku110k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Workload 2 — MT Market Share &amp; SOS (323,935 Photos/Day, N=1,000 hul_golden):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Peak-Accuracy Winner (#025000 CLEF 3.8-Flash: 84.5% 5-Attr Exact SKU, 96.0% 3-Attr Mean, 92.2% 3-Attr Exact, 92.8% 5-Level Hierarchy Score, 99.2% L1 HUL, 97.5% Cat, 93.2% Pack, 97.4% Brand, P50=7.09s, Cloud Run shelf-bench-zwdrb task 11): https://shelf-ui-861928090809.us-central1.run.app/engineering#/run/1013-025000-clef_standalone-gemini-3.8-flash-priority-hul_golden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Recommended Production Fast-Lite Winner (#025000-Lite CLEF 3.5-Flash-Lite: 81.9% 5-Attr SKU, 95.6% 3-Attr Mean, 91.4% 3-Attr Exact, 99.0% L1 HUL, 96.9% Cat, 93.3% Pack, 96.6% Brand, P50=2.69s, P95=4.41s, $0.00091/crop, Cloud Run shelf-bench-zwdrb task 10): https://shelf-ui-861928090809.us-central1.run.app/engineering#/run/1013-025000-clef_standalone-gemini-3.5-flash-lite-priority-hul_golden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Fast Hybrid JEV (#013246 3.8-Flash: 80.3% 5-Attr SKU at P50=1.68s, Cloud Run shelf-bench-kh9hm task 8): https://shelf-ui-861928090809.us-central1.run.app/engineering#/run/1013-013246-hierarchical_clm_jev-gemini-3.8-flash-priority-hul_golden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Workload 3 — MT Toker Promotional Audit (37,596 Audits/Day, N=1,000 hul_promos):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Zero-Shot Promo Verifier (#025000 3.8-Flash: 84.4% 3-Attr Exact, 90.8% 3-Attr Mean, 73.1% 5-Attr, 97.8% L1 HUL, 93.7% Brand, Cloud Run shelf-bench-jqvtp task 0): https://shelf-ui-861928090809.us-central1.run.app/engineering#/run/1013-025000-jev_promo_verifier-gemini-3.8-flash-priority-hul_promos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Fast-Lite Promo Verifier (#025000 3.5-Flash-Lite: 84.0% 3-Attr Exact, 91.1% Mean, 73.0% 5-Attr at $0.00069/crop, Cloud Run shelf-bench-jqvtp task 1): https://shelf-ui-861928090809.us-central1.run.app/engineering#/run/1013-025000-jev_promo_verifier-gemini-3.5-flash-lite-priority-hul_promos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 Golden N=25 Promo Benchmark (#022245: 84.0% 5-Attr, 96.0% 3-Attr, 100% Brand, Cloud Run shelf-bench-7nc6l task 2): https://shelf-ui-861928090809.us-central1.run.app/engineering#/run/1013-022245-jev_promo_verifier-gemini-3.8-flash-priority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0" y="101600"/>
            <a:ext cx="9144000" cy="431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28600" y="127000"/>
            <a:ext cx="868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A 3-stage funnel and 4 data standardizations eliminate 13-model cascading errors</a:t>
            </a:r>
            <a:endParaRPr sz="145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28600" y="4902200"/>
            <a:ext cx="635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Source:</a:t>
            </a:r>
            <a:r>
              <a:rPr lang="en-GB" sz="7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 Architecture &amp; Data Forensics Audit (5.14M raw blobs -&gt; 602,797 deduplicated crops across 2,659 SKUs; 12/12 QC gates passed)</a:t>
            </a:r>
            <a:endParaRPr sz="7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6667500" y="49022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9AA0A6"/>
                </a:solidFill>
                <a:latin typeface="Google Sans"/>
                <a:ea typeface="Google Sans"/>
                <a:cs typeface="Google Sans"/>
                <a:sym typeface="Google Sans"/>
              </a:rPr>
              <a:t>2026  Proprietary + Confidential   |   2</a:t>
            </a:r>
            <a:endParaRPr sz="750">
              <a:solidFill>
                <a:srgbClr val="9AA0A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28600" y="609600"/>
            <a:ext cx="450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8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1. Box Detector (CPU) → 2. Embedding (JEV+CLM) → 3. Decision+CLEF → Output</a:t>
            </a:r>
            <a:endParaRPr b="1" sz="88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228600" y="850900"/>
            <a:ext cx="4508400" cy="29463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228600" y="3860800"/>
            <a:ext cx="4508400" cy="9399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 cap="flat" cmpd="sng" w="12700">
            <a:solidFill>
              <a:srgbClr val="AEC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1. Box Detector (80ms CPU, ₹0 VLM): Boxes Display Bays &amp; Product Packs; groups neighbor packs (3.2x fewer calls).</a:t>
            </a:r>
            <a:endParaRPr sz="76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2. Embedding — JEV + CLM Gate (Resolves 68% at ₹0 VLM): 2,659-SKU visual+text embedding + margin gate (78.6% 5-Attr / 93.9% 3-Attr).</a:t>
            </a:r>
            <a:endParaRPr sz="76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3. Decision + CLEF (VLM, Only 32% Lookalikes): 4-crop contact sheet + zoom strips → 84.5% 5-Attr SKU (96.0% 3-Attr) at ₹0.12/shelf.</a:t>
            </a:r>
            <a:endParaRPr sz="76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4889500" y="609600"/>
            <a:ext cx="402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20">
                <a:solidFill>
                  <a:srgbClr val="137333"/>
                </a:solidFill>
                <a:latin typeface="Google Sans"/>
                <a:ea typeface="Google Sans"/>
                <a:cs typeface="Google Sans"/>
                <a:sym typeface="Google Sans"/>
              </a:rPr>
              <a:t>Why Legacy Models Struggled &amp; How Our 4 Innovations Fixed It</a:t>
            </a:r>
            <a:endParaRPr b="1" sz="920">
              <a:solidFill>
                <a:srgbClr val="13733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4889500" y="850900"/>
            <a:ext cx="4026000" cy="927000"/>
          </a:xfrm>
          <a:prstGeom prst="roundRect">
            <a:avLst>
              <a:gd fmla="val 16667" name="adj"/>
            </a:avLst>
          </a:prstGeom>
          <a:solidFill>
            <a:srgbClr val="FEF7E0"/>
          </a:solidFill>
          <a:ln cap="flat" cmpd="sng" w="15250">
            <a:solidFill>
              <a:srgbClr val="F9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7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1. Eliminated Cascading Chain Error (43.0% / 16% → 92.2% 3-Attr Exact)</a:t>
            </a:r>
            <a:endParaRPr b="1" sz="77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7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Chaining brand.h5 (88.8%) × packtype.h5 (47.8% mapped / 23.6% raw) × 6 category InceptionNets compounds errors at every hop (43.0% 3-Attr Exact / 16.0% raw on hul_golden #115811). Our joint hierarchy predicts all 5 levels simultaneously.</a:t>
            </a:r>
            <a:endParaRPr sz="77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4889500" y="1841500"/>
            <a:ext cx="4026000" cy="9270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 cap="flat" cmpd="sng" w="15250">
            <a:solidFill>
              <a:srgbClr val="1E8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7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2. Harmonized 46 Category × Pack-Form Classes (+69.7% Pack Lift)</a:t>
            </a:r>
            <a:endParaRPr b="1" sz="77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7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Legacy training grouped packs into 5 broad buckets and overwrote multi-form brands with a single default pack. We aligned all 46 valid Category__PackType pairs across 2,659 SKUs, lifting Pack accuracy from 23.6% to 93.3% (#025000-Lite).</a:t>
            </a:r>
            <a:endParaRPr sz="77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4889500" y="2832100"/>
            <a:ext cx="4026000" cy="9270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 cap="flat" cmpd="sng" w="1525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7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3. Purged 399,412 Cross-Folder Duplicates &amp; Named 874 Rival Brands</a:t>
            </a:r>
            <a:endParaRPr b="1" sz="77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7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Computed MD5 hashes across 5.14M raw files (1.00M → 602.8K unique crops) for 100% zero-leakage splits, and expanded 874 competitor brands out of the single 'Others' bucket into 953 named brands (1,586 rival SKUs).</a:t>
            </a:r>
            <a:endParaRPr sz="77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4889500" y="3822700"/>
            <a:ext cx="4026000" cy="927000"/>
          </a:xfrm>
          <a:prstGeom prst="roundRect">
            <a:avLst>
              <a:gd fmla="val 16667" name="adj"/>
            </a:avLst>
          </a:prstGeom>
          <a:solidFill>
            <a:srgbClr val="F3E8FD"/>
          </a:solidFill>
          <a:ln cap="flat" cmpd="sng" w="15250">
            <a:solidFill>
              <a:srgbClr val="7627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7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4. Optical &amp; Geometric Priors (Unwarp + Zoom Strips + Plank Ratio)</a:t>
            </a:r>
            <a:endParaRPr b="1" sz="77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7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Shades-of-Gray illuminant normalization removes yellow Kirana cast; 1.15x cylindrical tube unwarp + +8% padded 2x Middle/Bottom zoom strips + plank height ratio (r_h = h_crop/h_row) resolve lookalike variants &amp; grammage.</a:t>
            </a:r>
            <a:endParaRPr sz="77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00" y="1094267"/>
            <a:ext cx="4406901" cy="2459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0" y="101600"/>
            <a:ext cx="9144000" cy="431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228600" y="127000"/>
            <a:ext cx="868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Hybrid CLM + CLEF outperforms legacy .h5 chains and standalone SFT across every task</a:t>
            </a:r>
            <a:endParaRPr sz="145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228600" y="4902200"/>
            <a:ext cx="635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Source:</a:t>
            </a:r>
            <a:r>
              <a:rPr lang="en-GB" sz="7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 Direct head-to-head Cloud Run evaluations on identical N=1,000 hul_golden, hul_variants, hul_promos &amp; gtmerch_golden test splits</a:t>
            </a:r>
            <a:endParaRPr sz="7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6667500" y="49022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9AA0A6"/>
                </a:solidFill>
                <a:latin typeface="Google Sans"/>
                <a:ea typeface="Google Sans"/>
                <a:cs typeface="Google Sans"/>
                <a:sym typeface="Google Sans"/>
              </a:rPr>
              <a:t>2026  Proprietary + Confidential   |   3</a:t>
            </a:r>
            <a:endParaRPr sz="750">
              <a:solidFill>
                <a:srgbClr val="9AA0A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85" name="Google Shape;85;p14"/>
          <p:cNvGraphicFramePr/>
          <p:nvPr/>
        </p:nvGraphicFramePr>
        <p:xfrm>
          <a:off x="228600" y="60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{F9B989E2-BEE7-4EF9-91B1-D619EE996A8B}</a:tableStyleId>
              </a:tblPr>
              <a:tblGrid>
                <a:gridCol w="1803400"/>
                <a:gridCol w="889000"/>
                <a:gridCol w="457200"/>
                <a:gridCol w="584200"/>
                <a:gridCol w="533400"/>
                <a:gridCol w="558800"/>
                <a:gridCol w="787400"/>
                <a:gridCol w="939800"/>
                <a:gridCol w="812800"/>
                <a:gridCol w="635000"/>
                <a:gridCol w="685800"/>
              </a:tblGrid>
              <a:tr h="335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Architecture / Model Family (Cloud Run ID)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Eval Scope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L1 HUL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L2A Cat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L2B Pack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L3 Brand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3-Attr (Mean/Ex)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5-Attr SKU (2,659)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Merch &amp; Promo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Latency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Cost &amp; Calls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 Legacy 13-Model Chain (#115811/.h5/ViT)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C522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1–3 Attr Fragmented</a:t>
                      </a:r>
                      <a:endParaRPr sz="680">
                        <a:solidFill>
                          <a:srgbClr val="C522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86.8%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84.4% (83.2%)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C522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47.8% (23.6%)</a:t>
                      </a:r>
                      <a:endParaRPr b="1" sz="680">
                        <a:solidFill>
                          <a:srgbClr val="C522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88.8% (1-Attr)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73.7% (43.0%)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50.5% W1 (16% .h5)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51.1% Det • 75% Pr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1.59s (16.8s+)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₹0.32 • 35–105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2. Standalone 3.5-Flash-Lite SFT (#121756)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3-Attr SFT (No Gate)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100%*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93.1%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74.7%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93.9%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87.2% (69.7%)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69.7% 3-Attr (80%*)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Separate det req.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1.31s (1.83s)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₹2.87 • 35 calls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3. Plug-In Hybrid CLM + 3.5-SFT (#121755)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3-Attr Scope (B/C/P)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98.5%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96.6%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92.6%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97.0%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95.4% (91.1%)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91.1% 3-Attr Exact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Uses ONNX Det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4.21s–10.29s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₹0.12 • 3.1 calls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4. Our Zero-VLM Fast Path (CLM #013247)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Full 5-Attr (0% VLM)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98.6%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95.8%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90.4%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95.6%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93.9% (89.5%)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78.6% (N=1,000)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69.5% Det • 79% Pr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0.90s–1.50s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₹0.05 • 2.0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5. ★ Production Hybrid Fast-Lite (#025000-Lite)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★ Recommended 5-Attr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99.0%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96.9%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93.3%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96.6%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★ 95.6% (91.4%)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★ 81.9% (80.3% 1.7s)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99.4% Bay • 84% Pr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1.68s–2.69s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★ ₹0.12 • 3.1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6. 🏆 Production Hybrid Max (#025000 3.8-Flash)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Peak 5-Attr Winner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99.2%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97.5%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93.2%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97.4%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96.0% (92.2%)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84.5% (82.6% Var)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100% Bay • 84.4% Pr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7.09s (3.9s)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₹0.35 • 3.1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14"/>
          <p:cNvSpPr/>
          <p:nvPr/>
        </p:nvSpPr>
        <p:spPr>
          <a:xfrm>
            <a:off x="228600" y="4038600"/>
            <a:ext cx="8686800" cy="7875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525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4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Key Architectural Insight — Why Hybrid Beats Both Legacy .h5 Chains (+49.2% 3-Attr Exact) &amp; Standalone SFT (+21.4% 3-Attr Exact, 24x Lower Cost):</a:t>
            </a:r>
            <a:endParaRPr b="1" sz="74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Legacy cv_classify (brand.h5 #115811 = 88.8% Brand) only predicts Brand; when chained with packtype.h5 (47.8% mapped / 23.6% raw #010924), combined 3-Attr Exact drops to 43.0% (16.0% raw).</a:t>
            </a:r>
            <a:endParaRPr sz="74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Standalone Gemini 3.5-Flash-Lite SFT (#121756, rgavigan) achieves 69.7% 3-Attr Exact (87.2% 3-Attr Mean: 93.9% Br, 93.1% Cat, 74.7% Pack) in 1.31s/crop, but guesses cold without reference packs.</a:t>
            </a:r>
            <a:endParaRPr sz="74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Placing our System-1 CLM Gate in front of SFT (#121755) jumps 3-Attr Exact from 69.7% → 91.1% (+21.4%), and pairing CLM with 4-Crop CLEF Contact Sheets (#025000) reaches 84.5% 5-Attr SKU (92.2% 3-Attr Exact).</a:t>
            </a:r>
            <a:endParaRPr sz="74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0" y="101600"/>
            <a:ext cx="9144000" cy="431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228600" y="127000"/>
            <a:ext cx="868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One shared catalog and weight architecture generalizes across both GT kirana and MT aisles</a:t>
            </a:r>
            <a:endParaRPr sz="145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228600" y="4902200"/>
            <a:ext cx="635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Source:</a:t>
            </a:r>
            <a:r>
              <a:rPr lang="en-GB" sz="7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 Customer GT/MT Scope Baseline vs. Master Catalog v2.2 &amp; 13-Model Legacy Replacement Mapping</a:t>
            </a:r>
            <a:endParaRPr sz="7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6667500" y="49022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9AA0A6"/>
                </a:solidFill>
                <a:latin typeface="Google Sans"/>
                <a:ea typeface="Google Sans"/>
                <a:cs typeface="Google Sans"/>
                <a:sym typeface="Google Sans"/>
              </a:rPr>
              <a:t>2026  Proprietary + Confidential   |   4</a:t>
            </a:r>
            <a:endParaRPr sz="750">
              <a:solidFill>
                <a:srgbClr val="9AA0A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228600" y="609600"/>
            <a:ext cx="414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A. GT (General Trade) vs. MT (Modern Trade) Scope &amp; Accuracy</a:t>
            </a:r>
            <a:endParaRPr b="1" sz="90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96" name="Google Shape;96;p15"/>
          <p:cNvGraphicFramePr/>
          <p:nvPr/>
        </p:nvGraphicFramePr>
        <p:xfrm>
          <a:off x="228600" y="86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{F9B989E2-BEE7-4EF9-91B1-D619EE996A8B}</a:tableStyleId>
              </a:tblPr>
              <a:tblGrid>
                <a:gridCol w="1016000"/>
                <a:gridCol w="660400"/>
                <a:gridCol w="660400"/>
                <a:gridCol w="1803400"/>
              </a:tblGrid>
              <a:tr h="366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Scope / Metric</a:t>
                      </a:r>
                      <a:endParaRPr b="1" sz="76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Legacy GT</a:t>
                      </a:r>
                      <a:endParaRPr b="1" sz="76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Legacy MT</a:t>
                      </a:r>
                      <a:endParaRPr b="1" sz="76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Our Unified GT + MT System</a:t>
                      </a:r>
                      <a:endParaRPr b="1" sz="76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Categories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10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10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10 Cats + 46 Cat×Pack Pairs (97.5%)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HUL Brands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56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56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79 HUL Brands inc. M&amp;A (99.2% L1)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Non-HUL Brands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123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123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874 Named Rival Brands (95.9% Brand)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HUL Variants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960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960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1,073 Canonical HUL SKUs (84.5% SKU)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Non-HUL Variants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953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953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1,586 Rival SKUs (2,659 Total SKUs)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Display Bay / SOS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51.1% Det F2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50.5% W1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100% GT Bay Purity • 96.0% MT 3-Attr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Promo &amp; Launch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Manual QA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4-Wk ViT-240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84.4% Promo (93.7% Brand) • 5-Min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Latency &amp; Cost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180s Queue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16.8s / ₹0.32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1.49s–2.69s P50 • ₹0.05–₹0.12 / img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15"/>
          <p:cNvSpPr txBox="1"/>
          <p:nvPr/>
        </p:nvSpPr>
        <p:spPr>
          <a:xfrm>
            <a:off x="4495800" y="6096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137333"/>
                </a:solidFill>
                <a:latin typeface="Google Sans"/>
                <a:ea typeface="Google Sans"/>
                <a:cs typeface="Google Sans"/>
                <a:sym typeface="Google Sans"/>
              </a:rPr>
              <a:t>B. How 1 Unified Pipeline Replaces All 13 Customer Legacy Models</a:t>
            </a:r>
            <a:endParaRPr b="1" sz="900">
              <a:solidFill>
                <a:srgbClr val="13733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98" name="Google Shape;98;p15"/>
          <p:cNvGraphicFramePr/>
          <p:nvPr/>
        </p:nvGraphicFramePr>
        <p:xfrm>
          <a:off x="4495800" y="86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{F9B989E2-BEE7-4EF9-91B1-D619EE996A8B}</a:tableStyleId>
              </a:tblPr>
              <a:tblGrid>
                <a:gridCol w="1193800"/>
                <a:gridCol w="863600"/>
                <a:gridCol w="431800"/>
                <a:gridCol w="1930400"/>
              </a:tblGrid>
              <a:tr h="366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Use Case (Trade)</a:t>
                      </a:r>
                      <a:endParaRPr b="1" sz="76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Legacy Arch</a:t>
                      </a:r>
                      <a:endParaRPr b="1" sz="76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</a:t>
                      </a:r>
                      <a:endParaRPr b="1" sz="76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Our Unified Replacement &amp; Lift</a:t>
                      </a:r>
                      <a:endParaRPr b="1" sz="76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 SKU Detection (GT, MT)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YOLO (1-Class)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Stage-1 Dual-ONNX Class 1 (69.5% F2 vs 50.4%)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2. Brand Class. (GT, MT)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XceptionNet (.h5)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CLM + CLEF 953 Brands (97.4% vs 88.8% 1-Attr)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3. Variant Class. (GT, MT)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6× InceptionNet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2,659-SKU Gallery + Zoom Strips (82.6%–84.5%)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4. Pack Type (GT, MT)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InceptionNet (.h5)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46 Cat×Pack Hierarchy (93.3% vs 23.6% .h5)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5. Asset SKU Det (Merch)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YOLO (Merch)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Stage-1 Dual-ONNX Class 0 Bay (100% Purity)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6. Promo Recog. (Merch)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ViT-B-16-240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Zero-Shot Promo Verifier (84.4% • 5-min launch)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7. Merch Product (Merch)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InceptionNet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Multi-Photo Bay Verifier (95.0% HUL in 5.25s)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TOTAL CONSOLIDATED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7 Arch Families</a:t>
                      </a:r>
                      <a:endParaRPr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13</a:t>
                      </a:r>
                      <a:endParaRPr b="1" sz="73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1 Serverless Pipeline (91% Fewer Calls/Shelf)</a:t>
                      </a:r>
                      <a:endParaRPr b="1" sz="73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/>
          <p:nvPr/>
        </p:nvSpPr>
        <p:spPr>
          <a:xfrm>
            <a:off x="0" y="101600"/>
            <a:ext cx="9144000" cy="431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28600" y="127000"/>
            <a:ext cx="868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All 6 contractual POC success criteria are met or exceeded on real Cloud Run workloads</a:t>
            </a:r>
            <a:endParaRPr sz="145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228600" y="4902200"/>
            <a:ext cx="635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Source:</a:t>
            </a:r>
            <a:r>
              <a:rPr lang="en-GB" sz="7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 Live GCP Cloud Billing Catalog API (cloudbilling.googleapis.com) &amp; Cloud Run Execution Telemetry (#025000, #013246, #013247, #022245, #031926)</a:t>
            </a:r>
            <a:endParaRPr sz="7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6667500" y="49022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9AA0A6"/>
                </a:solidFill>
                <a:latin typeface="Google Sans"/>
                <a:ea typeface="Google Sans"/>
                <a:cs typeface="Google Sans"/>
                <a:sym typeface="Google Sans"/>
              </a:rPr>
              <a:t>2026  Proprietary + Confidential   |   5</a:t>
            </a:r>
            <a:endParaRPr sz="750">
              <a:solidFill>
                <a:srgbClr val="9AA0A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07" name="Google Shape;107;p16"/>
          <p:cNvGraphicFramePr/>
          <p:nvPr/>
        </p:nvGraphicFramePr>
        <p:xfrm>
          <a:off x="228600" y="60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{F9B989E2-BEE7-4EF9-91B1-D619EE996A8B}</a:tableStyleId>
              </a:tblPr>
              <a:tblGrid>
                <a:gridCol w="914400"/>
                <a:gridCol w="1320800"/>
                <a:gridCol w="914400"/>
                <a:gridCol w="736600"/>
                <a:gridCol w="1625600"/>
                <a:gridCol w="990600"/>
                <a:gridCol w="2184400"/>
              </a:tblGrid>
              <a:tr h="335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POC Criterion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Contractual Target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Legacy Baseline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POC Target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Our Verified Cloud Run Result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Margin vs. Target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Cloud Run Proof &amp; Mechanism</a:t>
                      </a:r>
                      <a:endParaRPr b="1" sz="72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124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 Cost per Image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Reduce ₹0.32 → ₹0.22/img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~₹0.32 ($0.0037)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≤ ₹0.22 / img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₹0.05 (Zero-VLM) • ₹0.12 (Lite)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45%–77% Below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#013247 ($0.00059) &amp; #025000-Lite ($0.00139); 68% Sys-1 ₹0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2. Accuracy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90% val avg • 87% field MS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50.5% W1 • 43% .h5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≥90% / ≥87%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92.8% 5-Lvl • 96.0% 3-Attr Field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+2.8% / +9.0%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#025000 (N=1,000): 99.2% L1, 97.5% Cat, 93.2% Pack, 84.5% SKU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3. P95 Latency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~30 sec server-side SLO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16.8s–71.7s (180s)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≤ 30.0s P95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4.41s–8.82s P95 (1.68s–2.69s P50)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3.4x – 6.8x Faster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#025000-Lite (2.69s P50 / 4.41s P95) &amp; #013248-Lite (5.60s P95)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4. 6-Img Batch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5s avg/img (6 imgs/req)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12.5s–30.0s / img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≤ 5.0s / img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0.87s–2.41s / img (5.2s–14.5s/6)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2.1x–5.7x Faster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#025000-session (EXP-25: 0.87s–1.58s P50) &amp; #022245 (5.25s bay)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5. Throughput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~32,393 imgs / CPU-GPU hr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14.4K–24K/GPU-hr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≥ 32,393 / hr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45,000 – 64,800+ imgs / hr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+39% to +100%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#031926 (80ms CPU ONNX = 45K/vCPU-hr at ₹0 GPU) + 18/s pool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</a:tr>
              <a:tr h="33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6. Model Calls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Simplify 13-model chain</a:t>
                      </a:r>
                      <a:endParaRPr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13 Models (35–105)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Simplify Ops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1 Pipeline (1.0–4.1 calls/shelf)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-91% Calls/Shelf</a:t>
                      </a:r>
                      <a:endParaRPr b="1" sz="68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8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 ONNX pass + 1 batched embed + 0–2.1 batched VLM sheets</a:t>
                      </a:r>
                      <a:endParaRPr b="1" sz="68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08" name="Google Shape;108;p16"/>
          <p:cNvSpPr/>
          <p:nvPr/>
        </p:nvSpPr>
        <p:spPr>
          <a:xfrm>
            <a:off x="228600" y="4038600"/>
            <a:ext cx="8686800" cy="787500"/>
          </a:xfrm>
          <a:prstGeom prst="roundRect">
            <a:avLst>
              <a:gd fmla="val 16667" name="adj"/>
            </a:avLst>
          </a:prstGeom>
          <a:solidFill>
            <a:srgbClr val="FEF7E0"/>
          </a:solidFill>
          <a:ln cap="flat" cmpd="sng" w="15250">
            <a:solidFill>
              <a:srgbClr val="F9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40">
                <a:solidFill>
                  <a:srgbClr val="B06000"/>
                </a:solidFill>
                <a:latin typeface="Google Sans"/>
                <a:ea typeface="Google Sans"/>
                <a:cs typeface="Google Sans"/>
                <a:sym typeface="Google Sans"/>
              </a:rPr>
              <a:t>All-In Per-Image Cost Receipt (src/utils/pricing.py) &amp; Worst-Case 100% Escalation Cost Brake</a:t>
            </a:r>
            <a:r>
              <a:rPr lang="en-GB" sz="74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endParaRPr sz="74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Measured Production Default (68% System-1 Capture / 32% System-2 Escalation): Stage 1 CPU ONNX + Cloud Run + GCS I/O ($0.00004) + System 1 Embeddings ($0.00055 across 11 medoid groups) + System 2 Gemini 3.5-Flash-Lite ($0.00080) = $0.00139 / image (₹0.12 / image) — 45% below the ₹0.22 target ($704/day for 506,531 photos).</a:t>
            </a:r>
            <a:endParaRPr sz="74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Hard Cost Brake Even at 100% System-2 Escalation: Because 3.2x Spatial Neighbor Medoid Grouping collapses 35 facings → 11 unique groups batched 4-per-sheet, even 0% System-1 capture caps cost at ₹0.27 / image ($0.00309 vs $0.0332 un-grouped).</a:t>
            </a:r>
            <a:endParaRPr sz="74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0" y="101600"/>
            <a:ext cx="9144000" cy="431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228600" y="127000"/>
            <a:ext cx="868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Zero-annotation SKU folder onboarding and 3 engineering levers close the remaining size gap</a:t>
            </a:r>
            <a:endParaRPr sz="145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228600" y="4902200"/>
            <a:ext cx="635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Source:</a:t>
            </a:r>
            <a:r>
              <a:rPr lang="en-GB" sz="7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 Production Onboarding Runbook &amp; Engineering Roadmap (EXP-20 Store Cohort Priors, EXP-23 Plank Height Ratio, 5-Attr LoRA SFT)</a:t>
            </a:r>
            <a:endParaRPr sz="7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6667500" y="49022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9AA0A6"/>
                </a:solidFill>
                <a:latin typeface="Google Sans"/>
                <a:ea typeface="Google Sans"/>
                <a:cs typeface="Google Sans"/>
                <a:sym typeface="Google Sans"/>
              </a:rPr>
              <a:t>2026  Proprietary + Confidential   |   6</a:t>
            </a:r>
            <a:endParaRPr sz="750">
              <a:solidFill>
                <a:srgbClr val="9AA0A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228600" y="609600"/>
            <a:ext cx="421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2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1. Client Onboarding Playbook (Zero Disruption to Ops Teams)</a:t>
            </a:r>
            <a:endParaRPr b="1" sz="92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228600" y="863600"/>
            <a:ext cx="4216500" cy="12066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 cap="flat" cmpd="sng" w="1525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9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Step 1 • Keep Existing SKU Crop-Folder Workflow (Zero Shelf Box Labeling)</a:t>
            </a:r>
            <a:endParaRPr b="1" sz="79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9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Operations continues dropping studio or store reference crops into SKU folders (e.g. 1 brand with 50 variant/size folders). Because Stage-1 ONNX only detects generic Display Bays (Class 0) and Product Packs (Class 1), full-shelf bounding boxes never need re-annotation.</a:t>
            </a:r>
            <a:endParaRPr sz="79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228600" y="2159000"/>
            <a:ext cx="4216500" cy="12066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 cap="flat" cmpd="sng" w="15250">
            <a:solidFill>
              <a:srgbClr val="1E8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9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Step 2 • 2-Minute Incremental Centroid Refresh (0.00% Cross-Brand Drift)</a:t>
            </a:r>
            <a:endParaRPr b="1" sz="79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9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The gemini-embedding-2 backbone is frozen and each SKU has an isolated fused centroid (0.85 visual + 0.15 text). Updating 1 brand's 50 folders updates only those 50 centroids in &lt; 2 minutes with zero drift across the other 952 brands. New promos launch in 5 minutes from 1 photo.</a:t>
            </a:r>
            <a:endParaRPr sz="79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228600" y="3454400"/>
            <a:ext cx="4216500" cy="1206600"/>
          </a:xfrm>
          <a:prstGeom prst="roundRect">
            <a:avLst>
              <a:gd fmla="val 16667" name="adj"/>
            </a:avLst>
          </a:prstGeom>
          <a:solidFill>
            <a:srgbClr val="F3E8FD"/>
          </a:solidFill>
          <a:ln cap="flat" cmpd="sng" w="15250">
            <a:solidFill>
              <a:srgbClr val="7627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9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Step 3 • Live Cost/Accuracy Dial &amp; Plug-and-Play SFT Endpoint Slot</a:t>
            </a:r>
            <a:endParaRPr b="1" sz="79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9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Control plane exposes a live z_margin slider to dial System-2 escalation between ₹0.05/img (Zero-VLM), ₹0.12/img (3.5-Flash-Lite Recommended), and ₹0.35/img (3.8-Flash Max), plus a drop-in configuration slot for Vertex LoRA SFT checkpoints.</a:t>
            </a:r>
            <a:endParaRPr sz="79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648200" y="609600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137333"/>
                </a:solidFill>
                <a:latin typeface="Google Sans"/>
                <a:ea typeface="Google Sans"/>
                <a:cs typeface="Google Sans"/>
                <a:sym typeface="Google Sans"/>
              </a:rPr>
              <a:t>2. Concrete Next Steps: Closing the Final 15.5% SKU Gap (84.5% → 95%+)</a:t>
            </a:r>
            <a:endParaRPr b="1" sz="900">
              <a:solidFill>
                <a:srgbClr val="13733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22" name="Google Shape;122;p17"/>
          <p:cNvGraphicFramePr/>
          <p:nvPr/>
        </p:nvGraphicFramePr>
        <p:xfrm>
          <a:off x="4648200" y="86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{F9B989E2-BEE7-4EF9-91B1-D619EE996A8B}</a:tableStyleId>
              </a:tblPr>
              <a:tblGrid>
                <a:gridCol w="1041400"/>
                <a:gridCol w="965200"/>
                <a:gridCol w="1524000"/>
                <a:gridCol w="736600"/>
              </a:tblGrid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Remaining Error Mode</a:t>
                      </a:r>
                      <a:endParaRPr b="1" sz="73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Root Cause (N=1,000)</a:t>
                      </a:r>
                      <a:endParaRPr b="1" sz="73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Next Engineering Lever</a:t>
                      </a:r>
                      <a:endParaRPr b="1" sz="73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Lift</a:t>
                      </a:r>
                      <a:endParaRPr b="1" sz="73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 Grammage Size (50g vs 100g/250g)</a:t>
                      </a:r>
                      <a:endParaRPr b="1"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80% of SKU gap (W5); single crop lacks scale</a:t>
                      </a:r>
                      <a:endParaRPr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EXP-23 Plank Height Ratio (r_h) + EXP-20 Store Cohort Prior</a:t>
                      </a:r>
                      <a:endParaRPr b="1"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+6.5% SKU</a:t>
                      </a:r>
                      <a:endParaRPr b="1" sz="69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(→ 91.0%)</a:t>
                      </a:r>
                      <a:endParaRPr b="1" sz="69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2. Fine-Print Text on Curved Packs</a:t>
                      </a:r>
                      <a:endParaRPr b="1"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LoRA SFT (#121755) trained on 3 levels only</a:t>
                      </a:r>
                      <a:endParaRPr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Retrain 3.5-Flash-Lite LoRA SFT on all 5 levels (2,659 SKUs)</a:t>
                      </a:r>
                      <a:endParaRPr b="1"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+3.0% SKU</a:t>
                      </a:r>
                      <a:endParaRPr b="1" sz="69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(→ 94.0%)</a:t>
                      </a:r>
                      <a:endParaRPr b="1" sz="69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3. Session Border Clipping (~20%)</a:t>
                      </a:r>
                      <a:endParaRPr b="1"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Edge packs clipped at photo border</a:t>
                      </a:r>
                      <a:endParaRPr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EXP-25 Multi-Frame Homography &amp; Border Box Stitching</a:t>
                      </a:r>
                      <a:endParaRPr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+2.0% SKU</a:t>
                      </a:r>
                      <a:endParaRPr b="1" sz="69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(→ 96.0%)</a:t>
                      </a:r>
                      <a:endParaRPr b="1" sz="69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4. Recent M&amp;A Brand Shifts</a:t>
                      </a:r>
                      <a:endParaRPr b="1"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0.8% L1 gap on Horlicks/Minimalist</a:t>
                      </a:r>
                      <a:endParaRPr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9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Time-aware M&amp;A ownership ledger + hard-example mining</a:t>
                      </a:r>
                      <a:endParaRPr sz="69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+0.6% L1</a:t>
                      </a:r>
                      <a:endParaRPr b="1" sz="69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(→ 99.8%)</a:t>
                      </a:r>
                      <a:endParaRPr b="1" sz="69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17"/>
          <p:cNvSpPr/>
          <p:nvPr/>
        </p:nvSpPr>
        <p:spPr>
          <a:xfrm>
            <a:off x="4648200" y="3505200"/>
            <a:ext cx="4267200" cy="1295400"/>
          </a:xfrm>
          <a:prstGeom prst="roundRect">
            <a:avLst>
              <a:gd fmla="val 16667" name="adj"/>
            </a:avLst>
          </a:prstGeom>
          <a:solidFill>
            <a:srgbClr val="FEF7E0"/>
          </a:solidFill>
          <a:ln cap="flat" cmpd="sng" w="15250">
            <a:solidFill>
              <a:srgbClr val="F9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10">
                <a:solidFill>
                  <a:srgbClr val="B06000"/>
                </a:solidFill>
                <a:latin typeface="Google Sans"/>
                <a:ea typeface="Google Sans"/>
                <a:cs typeface="Google Sans"/>
                <a:sym typeface="Google Sans"/>
              </a:rPr>
              <a:t>4-Week Production Rollout Schedule:</a:t>
            </a:r>
            <a:endParaRPr b="1" sz="710">
              <a:solidFill>
                <a:srgbClr val="B06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1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Week 1: Shadow-stream 506,531 daily GT/MT photos through Cloud Run Fast-Lite (#025000-Lite @ ₹0.12/img).</a:t>
            </a:r>
            <a:endParaRPr sz="71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1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Week 2: Enable EXP-23 plank height ratios &amp; store-format priors in Stage 2A/2B.</a:t>
            </a:r>
            <a:endParaRPr sz="71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1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Week 3: Promote 5-Attribute LoRA SFT checkpoint &amp; decommission all 13 legacy .h5/ViT endpoints.</a:t>
            </a:r>
            <a:endParaRPr sz="71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1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Week 4: Hand over live /exec &amp; /engineering dashboards with automated weekly catalog sync.</a:t>
            </a:r>
            <a:endParaRPr sz="71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101600"/>
            <a:ext cx="9144000" cy="431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228600" y="127000"/>
            <a:ext cx="868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Data forensics, 5-level taxonomy &amp; enrichment unlocked +75.4% accuracy lift over legacy</a:t>
            </a:r>
            <a:endParaRPr sz="145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228600" y="4902200"/>
            <a:ext cx="635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Source:</a:t>
            </a:r>
            <a:r>
              <a:rPr lang="en-GB" sz="7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 12/12 Automated QC Gates (#115811 Legacy .h5 vs #121756 SFT vs #013247 CLM vs #025000-Lite &amp; #025000 Peak on N=1,000 Golden)</a:t>
            </a:r>
            <a:endParaRPr sz="7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6667500" y="49022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9AA0A6"/>
                </a:solidFill>
                <a:latin typeface="Google Sans"/>
                <a:ea typeface="Google Sans"/>
                <a:cs typeface="Google Sans"/>
                <a:sym typeface="Google Sans"/>
              </a:rPr>
              <a:t>2026  Proprietary + Confidential   |   7</a:t>
            </a:r>
            <a:endParaRPr sz="750">
              <a:solidFill>
                <a:srgbClr val="9AA0A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228600" y="609600"/>
            <a:ext cx="2057400" cy="469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015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228600" y="609600"/>
            <a:ext cx="50700" cy="469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330200" y="622300"/>
            <a:ext cx="1905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5.14M → 602,797</a:t>
            </a:r>
            <a:endParaRPr b="1" sz="100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330200" y="812800"/>
            <a:ext cx="19050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1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Unique Audited Crops (399,412 cross-folder dupes &amp; green QA overlays purged)</a:t>
            </a:r>
            <a:endParaRPr sz="610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2438400" y="609600"/>
            <a:ext cx="2057400" cy="469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015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2438400" y="609600"/>
            <a:ext cx="50700" cy="4698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540000" y="622300"/>
            <a:ext cx="1905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E8E3E"/>
                </a:solidFill>
                <a:latin typeface="Google Sans"/>
                <a:ea typeface="Google Sans"/>
                <a:cs typeface="Google Sans"/>
                <a:sym typeface="Google Sans"/>
              </a:rPr>
              <a:t>46 → 18 Pack Forms</a:t>
            </a:r>
            <a:endParaRPr b="1" sz="1000">
              <a:solidFill>
                <a:srgbClr val="1E8E3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2540000" y="812800"/>
            <a:ext cx="19050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1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Harmonized Taxonomy (+69.7% Pack Lift: 23.6% raw .h5 → 93.3% Golden)</a:t>
            </a:r>
            <a:endParaRPr sz="610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648200" y="609600"/>
            <a:ext cx="2057400" cy="469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015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648200" y="609600"/>
            <a:ext cx="50700" cy="469800"/>
          </a:xfrm>
          <a:prstGeom prst="rect">
            <a:avLst/>
          </a:prstGeom>
          <a:solidFill>
            <a:srgbClr val="5E4D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4749800" y="622300"/>
            <a:ext cx="1905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5E4DB2"/>
                </a:solidFill>
                <a:latin typeface="Google Sans"/>
                <a:ea typeface="Google Sans"/>
                <a:cs typeface="Google Sans"/>
                <a:sym typeface="Google Sans"/>
              </a:rPr>
              <a:t>360 → 2,659 SKUs (A–Z)</a:t>
            </a:r>
            <a:endParaRPr b="1" sz="1000">
              <a:solidFill>
                <a:srgbClr val="5E4DB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749800" y="812800"/>
            <a:ext cx="19050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1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Full Master Catalog (1,073 HUL + 1,586 Rival SKUs; 48.2% 'Others' kept)</a:t>
            </a:r>
            <a:endParaRPr sz="610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6858000" y="609600"/>
            <a:ext cx="2057400" cy="469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015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6858000" y="609600"/>
            <a:ext cx="50700" cy="469800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6959600" y="622300"/>
            <a:ext cx="1905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D93025"/>
                </a:solidFill>
                <a:latin typeface="Google Sans"/>
                <a:ea typeface="Google Sans"/>
                <a:cs typeface="Google Sans"/>
                <a:sym typeface="Google Sans"/>
              </a:rPr>
              <a:t>16.0% → 91.4% / 84.5%</a:t>
            </a:r>
            <a:endParaRPr b="1" sz="1000">
              <a:solidFill>
                <a:srgbClr val="D9302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959600" y="812800"/>
            <a:ext cx="19050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1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rPr>
              <a:t>Step-Change Gain (16% raw 3-Attr / 0% 5-Attr → 91.4% 3-Attr &amp; 84.5% SKU)</a:t>
            </a:r>
            <a:endParaRPr sz="610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228600" y="1104900"/>
            <a:ext cx="43434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6 Data Enrichments &amp; Curation Breakthroughs (Legacy Raw State vs. Golden v2.2)</a:t>
            </a:r>
            <a:endParaRPr b="1" sz="80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49" name="Google Shape;149;p18"/>
          <p:cNvGraphicFramePr/>
          <p:nvPr/>
        </p:nvGraphicFramePr>
        <p:xfrm>
          <a:off x="228600" y="13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{F9B989E2-BEE7-4EF9-91B1-D619EE996A8B}</a:tableStyleId>
              </a:tblPr>
              <a:tblGrid>
                <a:gridCol w="990600"/>
                <a:gridCol w="1092200"/>
                <a:gridCol w="1219200"/>
                <a:gridCol w="1041400"/>
              </a:tblGrid>
              <a:tr h="44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Enrichment Pillar</a:t>
                      </a:r>
                      <a:endParaRPr b="1" sz="69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Legacy Raw State</a:t>
                      </a:r>
                      <a:endParaRPr b="1" sz="69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Enriched Golden v2.2</a:t>
                      </a:r>
                      <a:endParaRPr b="1" sz="69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9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Measured Impact</a:t>
                      </a:r>
                      <a:endParaRPr b="1" sz="69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 5-Level Hierarchy</a:t>
                      </a:r>
                      <a:endParaRPr b="1"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Flat folder names; 0% L1/L4/L5</a:t>
                      </a:r>
                      <a:endParaRPr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L1 HUL → L2 Cat/Pack → L3 Brand → L4 Var → L5 SKU</a:t>
                      </a:r>
                      <a:endParaRPr b="1"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0% → 84.5% 5-Attr SKU (99.2% L1)</a:t>
                      </a:r>
                      <a:endParaRPr b="1" sz="64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2. Pack Harmonization</a:t>
                      </a:r>
                      <a:endParaRPr b="1"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46 noisy labels (pouch vs sachet)</a:t>
                      </a:r>
                      <a:endParaRPr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18 canonical physical pack archetypes</a:t>
                      </a:r>
                      <a:endParaRPr b="1"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23.6% → 93.3% Pack (+69.7 pts)</a:t>
                      </a:r>
                      <a:endParaRPr b="1" sz="64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3. Full 2,659-SKU Index</a:t>
                      </a:r>
                      <a:endParaRPr b="1"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Capped at 360 SKUs (A–H only)</a:t>
                      </a:r>
                      <a:endParaRPr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All 2,659 SKUs (A–Z: Lux, Ponds, Rin, Surf, Vim)</a:t>
                      </a:r>
                      <a:endParaRPr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97.4% Brand; 0 I–Z truncation</a:t>
                      </a:r>
                      <a:endParaRPr b="1" sz="64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4. Rival Pack Recovery</a:t>
                      </a:r>
                      <a:endParaRPr b="1"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48.2% 'Others' shelf boxes deleted</a:t>
                      </a:r>
                      <a:endParaRPr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Retained all rival boxes + 1,586 rival SKUs</a:t>
                      </a:r>
                      <a:endParaRPr b="1"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98.6% L1 HUL vs Rival (1.4% SoS err)</a:t>
                      </a:r>
                      <a:endParaRPr b="1" sz="64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5. 12-Gate Data QC</a:t>
                      </a:r>
                      <a:endParaRPr b="1"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399K dupes + green QA overlays</a:t>
                      </a:r>
                      <a:endParaRPr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MD5 dedup + mt/ quarantine + 0 split leak</a:t>
                      </a:r>
                      <a:endParaRPr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12/12 QC Gates Passing (0% leak)</a:t>
                      </a:r>
                      <a:endParaRPr b="1" sz="64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6. 2x–4x Shelf Scale</a:t>
                      </a:r>
                      <a:endParaRPr b="1"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Small splits (25–31 test shelves)</a:t>
                      </a:r>
                      <a:endParaRPr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100 GT Sessions, 200 Merch, 100 MT + Bay meta</a:t>
                      </a:r>
                      <a:endParaRPr sz="6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4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±1.4% 95% CI &amp; 100% Bay Purity</a:t>
                      </a:r>
                      <a:endParaRPr b="1" sz="64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18"/>
          <p:cNvSpPr txBox="1"/>
          <p:nvPr/>
        </p:nvSpPr>
        <p:spPr>
          <a:xfrm>
            <a:off x="4673600" y="1104900"/>
            <a:ext cx="4241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E8E3E"/>
                </a:solidFill>
                <a:latin typeface="Google Sans"/>
                <a:ea typeface="Google Sans"/>
                <a:cs typeface="Google Sans"/>
                <a:sym typeface="Google Sans"/>
              </a:rPr>
              <a:t>Cumulative Accuracy &amp; Cost Progression Along the Way (N=1,000 Golden)</a:t>
            </a:r>
            <a:endParaRPr b="1" sz="800">
              <a:solidFill>
                <a:srgbClr val="1E8E3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51" name="Google Shape;151;p18"/>
          <p:cNvGraphicFramePr/>
          <p:nvPr/>
        </p:nvGraphicFramePr>
        <p:xfrm>
          <a:off x="4673600" y="13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{F9B989E2-BEE7-4EF9-91B1-D619EE996A8B}</a:tableStyleId>
              </a:tblPr>
              <a:tblGrid>
                <a:gridCol w="1727200"/>
                <a:gridCol w="863600"/>
                <a:gridCol w="838200"/>
                <a:gridCol w="812800"/>
              </a:tblGrid>
              <a:tr h="281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7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Engineering Milestone Along the Way</a:t>
                      </a:r>
                      <a:endParaRPr b="1" sz="67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7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3-Attr Exact</a:t>
                      </a:r>
                      <a:endParaRPr b="1" sz="67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7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5-Attr SKU</a:t>
                      </a:r>
                      <a:endParaRPr b="1" sz="67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7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Cost / Shelf</a:t>
                      </a:r>
                      <a:endParaRPr b="1" sz="67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E3E"/>
                    </a:solidFill>
                  </a:tcPr>
                </a:tc>
              </a:tr>
              <a:tr h="28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0. Legacy 13-Model Chain (raw 46-pack #010924)</a:t>
                      </a:r>
                      <a:endParaRPr b="1"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20">
                          <a:solidFill>
                            <a:srgbClr val="C522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16.0% (73.7% M)</a:t>
                      </a:r>
                      <a:endParaRPr sz="620">
                        <a:solidFill>
                          <a:srgbClr val="C522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0.0% (None)</a:t>
                      </a:r>
                      <a:endParaRPr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₹0.32 (13 mods)</a:t>
                      </a:r>
                      <a:endParaRPr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 + Pack Harmonization (46→18 #115811)</a:t>
                      </a:r>
                      <a:endParaRPr b="1"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43.0% (+27.0%)</a:t>
                      </a:r>
                      <a:endParaRPr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0.0% (None)</a:t>
                      </a:r>
                      <a:endParaRPr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₹0.32 (13 mods)</a:t>
                      </a:r>
                      <a:endParaRPr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28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2. + Clean Data + 3.5-Flash-Lite SFT (#121756)</a:t>
                      </a:r>
                      <a:endParaRPr b="1"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69.7% (+26.7%)</a:t>
                      </a:r>
                      <a:endParaRPr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68.2% (#013248)</a:t>
                      </a:r>
                      <a:endParaRPr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₹0.22 (1.31s)</a:t>
                      </a:r>
                      <a:endParaRPr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3. + 2,659-SKU Index + 0-VLM CLM (#013247)</a:t>
                      </a:r>
                      <a:endParaRPr b="1"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89.5% (+19.8%)</a:t>
                      </a:r>
                      <a:endParaRPr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78.6% (98.6% L1)</a:t>
                      </a:r>
                      <a:endParaRPr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₹0.05 (0 VLM)</a:t>
                      </a:r>
                      <a:endParaRPr b="1" sz="62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28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4. + Hybrid CLM + 3.5-Flash-Lite (#025000-Lite)</a:t>
                      </a:r>
                      <a:endParaRPr b="1"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★ 91.4% (95.6% M)</a:t>
                      </a:r>
                      <a:endParaRPr b="1" sz="62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★ 81.9% (2.69s)</a:t>
                      </a:r>
                      <a:endParaRPr b="1" sz="62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★ ₹0.12 (Prod)</a:t>
                      </a:r>
                      <a:endParaRPr b="1" sz="62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4EA"/>
                    </a:solidFill>
                  </a:tcPr>
                </a:tc>
              </a:tr>
              <a:tr h="28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5. + Tube Unwarp + 3.8-Flash Peak (#025000)</a:t>
                      </a:r>
                      <a:endParaRPr b="1"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92.2% (96.0% M)</a:t>
                      </a:r>
                      <a:endParaRPr b="1" sz="62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84.5% (92.8% T)</a:t>
                      </a:r>
                      <a:endParaRPr b="1" sz="62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2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₹0.21 (Peak)</a:t>
                      </a:r>
                      <a:endParaRPr b="1" sz="62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8"/>
          <p:cNvSpPr/>
          <p:nvPr/>
        </p:nvSpPr>
        <p:spPr>
          <a:xfrm>
            <a:off x="4673600" y="4038600"/>
            <a:ext cx="4241700" cy="7875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 cap="flat" cmpd="sng" w="15250">
            <a:solidFill>
              <a:srgbClr val="1E8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60">
                <a:solidFill>
                  <a:srgbClr val="137333"/>
                </a:solidFill>
                <a:latin typeface="Google Sans"/>
                <a:ea typeface="Google Sans"/>
                <a:cs typeface="Google Sans"/>
                <a:sym typeface="Google Sans"/>
              </a:rPr>
              <a:t>Data-Centric AI Takeaway — Where the +75.4% Lift Came From:</a:t>
            </a:r>
            <a:endParaRPr b="1" sz="660">
              <a:solidFill>
                <a:srgbClr val="13733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+53.7 pts of 3-Attr gain (16.0% → 69.7%) came from Data Forensics: 46→18 pack harmonization (+27.0 pts) + purging 399K dupes &amp; SFT (+26.7 pts).</a:t>
            </a:r>
            <a:endParaRPr sz="66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• +21.7 pts additional 3-Attr gain (69.7% → 91.4%) &amp; 81.9%–84.5% 5-Attr SKU at 62% lower cost (₹0.12/shelf) came from 2,659-SKU CLM + Flash-Lite.</a:t>
            </a:r>
            <a:endParaRPr sz="66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>
            <a:off x="0" y="101600"/>
            <a:ext cx="9144000" cy="431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228600" y="127000"/>
            <a:ext cx="868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One unified serverless pipeline replaces 13 chained models and exceeds all 6 POC targets</a:t>
            </a:r>
            <a:endParaRPr sz="145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228600" y="4902200"/>
            <a:ext cx="635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Source:</a:t>
            </a:r>
            <a:r>
              <a:rPr lang="en-GB" sz="75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 100% Google Cloud Run Executions (#025000, #013246, #013247, #121755, #022245, #031926) across N=1,000 Golden Benchmarks</a:t>
            </a:r>
            <a:endParaRPr sz="75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6667500" y="4902200"/>
            <a:ext cx="2247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9AA0A6"/>
                </a:solidFill>
                <a:latin typeface="Google Sans"/>
                <a:ea typeface="Google Sans"/>
                <a:cs typeface="Google Sans"/>
                <a:sym typeface="Google Sans"/>
              </a:rPr>
              <a:t>2026  Proprietary + Confidential   |   1</a:t>
            </a:r>
            <a:endParaRPr sz="750">
              <a:solidFill>
                <a:srgbClr val="9AA0A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228600" y="609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8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Cost &amp; Operational Simplicity</a:t>
            </a:r>
            <a:endParaRPr b="1" sz="108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228600" y="863600"/>
            <a:ext cx="2743200" cy="393600"/>
          </a:xfrm>
          <a:prstGeom prst="roundRect">
            <a:avLst>
              <a:gd fmla="val 16667" name="adj"/>
            </a:avLst>
          </a:pr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₹0.05 – ₹0.12 / Image</a:t>
            </a:r>
            <a:endParaRPr b="1"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45%–77% below ₹0.22 target (vs ₹0.32 legacy)</a:t>
            </a:r>
            <a:endParaRPr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28600" y="1308100"/>
            <a:ext cx="2743200" cy="393600"/>
          </a:xfrm>
          <a:prstGeom prst="roundRect">
            <a:avLst>
              <a:gd fmla="val 16667" name="adj"/>
            </a:avLst>
          </a:pr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13 Models → 1 Pipeline</a:t>
            </a:r>
            <a:endParaRPr b="1"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Consolidates 2 YOLO, 2 Xception, 7 Inception &amp; ViT</a:t>
            </a:r>
            <a:endParaRPr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228600" y="1752600"/>
            <a:ext cx="2743200" cy="393600"/>
          </a:xfrm>
          <a:prstGeom prst="roundRect">
            <a:avLst>
              <a:gd fmla="val 16667" name="adj"/>
            </a:avLst>
          </a:pr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1.0 – 4.1 Calls / Shelf</a:t>
            </a:r>
            <a:endParaRPr b="1"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91% fewer calls vs 35–105 per-crop calls</a:t>
            </a:r>
            <a:endParaRPr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3200400" y="609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80">
                <a:solidFill>
                  <a:srgbClr val="1E8E3E"/>
                </a:solidFill>
                <a:latin typeface="Google Sans"/>
                <a:ea typeface="Google Sans"/>
                <a:cs typeface="Google Sans"/>
                <a:sym typeface="Google Sans"/>
              </a:rPr>
              <a:t>Identification Accuracy (N=1,000)</a:t>
            </a:r>
            <a:endParaRPr b="1" sz="1080">
              <a:solidFill>
                <a:srgbClr val="1E8E3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200400" y="863600"/>
            <a:ext cx="2743200" cy="393600"/>
          </a:xfrm>
          <a:prstGeom prst="roundRect">
            <a:avLst>
              <a:gd fmla="val 16667" name="adj"/>
            </a:avLst>
          </a:prstGeom>
          <a:solidFill>
            <a:srgbClr val="1E8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92.8% 5-Level Mean</a:t>
            </a:r>
            <a:endParaRPr b="1"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Beats 90% validation target across all 5 levels</a:t>
            </a:r>
            <a:endParaRPr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3200400" y="1308100"/>
            <a:ext cx="2743200" cy="393600"/>
          </a:xfrm>
          <a:prstGeom prst="roundRect">
            <a:avLst>
              <a:gd fmla="val 16667" name="adj"/>
            </a:avLst>
          </a:prstGeom>
          <a:solidFill>
            <a:srgbClr val="1E8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96.0% 3-Attr Field Acc</a:t>
            </a:r>
            <a:endParaRPr b="1"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Beats 87% MarketShare field target (92.2% exact)</a:t>
            </a:r>
            <a:endParaRPr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3200400" y="1752600"/>
            <a:ext cx="2743200" cy="393600"/>
          </a:xfrm>
          <a:prstGeom prst="roundRect">
            <a:avLst>
              <a:gd fmla="val 16667" name="adj"/>
            </a:avLst>
          </a:prstGeom>
          <a:solidFill>
            <a:srgbClr val="1E8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84.5% Exact 2,659-SKU</a:t>
            </a:r>
            <a:endParaRPr b="1"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+34.0% vs 50.5% W1 • +49.2% vs 43.0% .h5 chain</a:t>
            </a:r>
            <a:endParaRPr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6172200" y="609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80">
                <a:solidFill>
                  <a:srgbClr val="5E4DB2"/>
                </a:solidFill>
                <a:latin typeface="Google Sans"/>
                <a:ea typeface="Google Sans"/>
                <a:cs typeface="Google Sans"/>
                <a:sym typeface="Google Sans"/>
              </a:rPr>
              <a:t>Speed, Throughput &amp; Agility</a:t>
            </a:r>
            <a:endParaRPr b="1" sz="1080">
              <a:solidFill>
                <a:srgbClr val="5E4DB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172200" y="863600"/>
            <a:ext cx="2743200" cy="393600"/>
          </a:xfrm>
          <a:prstGeom prst="roundRect">
            <a:avLst>
              <a:gd fmla="val 16667" name="adj"/>
            </a:avLst>
          </a:prstGeom>
          <a:solidFill>
            <a:srgbClr val="5E4D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1.68s–2.69s P50 (4.4s P95)</a:t>
            </a:r>
            <a:endParaRPr b="1"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3.4x–6.8x faster than 30s server-side P95 SLO</a:t>
            </a:r>
            <a:endParaRPr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6172200" y="1308100"/>
            <a:ext cx="2743200" cy="393600"/>
          </a:xfrm>
          <a:prstGeom prst="roundRect">
            <a:avLst>
              <a:gd fmla="val 16667" name="adj"/>
            </a:avLst>
          </a:prstGeom>
          <a:solidFill>
            <a:srgbClr val="5E4D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0.87s–2.41s / Image (6-Batch)</a:t>
            </a:r>
            <a:endParaRPr b="1"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&gt;2x faster than 5.0s/image 6-photo batch target</a:t>
            </a:r>
            <a:endParaRPr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172200" y="1752600"/>
            <a:ext cx="2743200" cy="393600"/>
          </a:xfrm>
          <a:prstGeom prst="roundRect">
            <a:avLst>
              <a:gd fmla="val 16667" name="adj"/>
            </a:avLst>
          </a:prstGeom>
          <a:solidFill>
            <a:srgbClr val="5E4D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45K–64.8K Imgs/Hr • 5-Min</a:t>
            </a:r>
            <a:endParaRPr b="1"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Beats 32,393/hr target • 1-photo zero-shot promo</a:t>
            </a:r>
            <a:endParaRPr sz="82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73" name="Google Shape;173;p19"/>
          <p:cNvGraphicFramePr/>
          <p:nvPr/>
        </p:nvGraphicFramePr>
        <p:xfrm>
          <a:off x="228600" y="226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{F9B989E2-BEE7-4EF9-91B1-D619EE996A8B}</a:tableStyleId>
              </a:tblPr>
              <a:tblGrid>
                <a:gridCol w="1930400"/>
                <a:gridCol w="1676400"/>
                <a:gridCol w="2108200"/>
                <a:gridCol w="1117600"/>
                <a:gridCol w="914400"/>
                <a:gridCol w="939800"/>
              </a:tblGrid>
              <a:tr h="406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Retail Execution Workload (506,531/Day)</a:t>
                      </a:r>
                      <a:endParaRPr b="1" sz="78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Legacy 13-Model Baseline</a:t>
                      </a:r>
                      <a:endParaRPr b="1" sz="78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Our Verified Cloud Run Result (N=1,000)</a:t>
                      </a:r>
                      <a:endParaRPr b="1" sz="78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Latency (P50 / P95)</a:t>
                      </a:r>
                      <a:endParaRPr b="1" sz="78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Cost / Image</a:t>
                      </a:r>
                      <a:endParaRPr b="1" sz="78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Cloud Run ID</a:t>
                      </a:r>
                      <a:endParaRPr b="1" sz="780">
                        <a:solidFill>
                          <a:srgbClr val="FFFFF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3E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 GT &amp; MT Merchandising (145K+/Day)</a:t>
                      </a:r>
                      <a:endParaRPr b="1"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51.1% Det F2 (1-class) • 180s queue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100% Bay Purity (95% HUL) • 69.5% F2</a:t>
                      </a:r>
                      <a:endParaRPr b="1" sz="74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1.49s Det / 5.25s Bay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₹0.004–₹0.10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#022245 &amp; #031926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2. MT Market Share &amp; SOS (323.9K/Day)</a:t>
                      </a:r>
                      <a:endParaRPr b="1"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50.5% W1 SKU • 43.0% Chained .h5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84.5% 5-Attr SKU • 96.0% 3-Attr • 97.4% Br</a:t>
                      </a:r>
                      <a:endParaRPr b="1" sz="74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1.68s–2.69s / 7.09s Max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₹0.05 – ₹0.12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#025000 &amp; #013246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3. MT Toker Promo Audit (37.6K/Day)</a:t>
                      </a:r>
                      <a:endParaRPr b="1"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75.0% ViT-240 (3–4 wk retrain)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✓ 84.4% 3-Attr • 93.7% Brand • 5-Min Launch</a:t>
                      </a:r>
                      <a:endParaRPr b="1" sz="74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9.08s–11.4s (N=1,000)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₹0.05 – ₹0.12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#025000 &amp; #022245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TOTAL UNIFIED PLATFORM IMPACT</a:t>
                      </a:r>
                      <a:endParaRPr b="1"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13 Chained Models • ~₹0.32/img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137333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🏆 6 / 6 POC Targets Exceeded • 2,659 SKUs</a:t>
                      </a:r>
                      <a:endParaRPr b="1" sz="740">
                        <a:solidFill>
                          <a:srgbClr val="137333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0.87s–2.41s (6-batch)</a:t>
                      </a:r>
                      <a:endParaRPr b="1"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₹0.05–₹0.12 (-62%)</a:t>
                      </a:r>
                      <a:endParaRPr b="1"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202124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140+ Cloud Runs</a:t>
                      </a:r>
                      <a:endParaRPr sz="740">
                        <a:solidFill>
                          <a:srgbClr val="202124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